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spc="180">
                <a:solidFill>
                  <a:srgbClr val="FF6A2B"/>
                </a:solidFill>
                <a:latin typeface="Consolas"/>
              </a:rPr>
              <a:t>OFFLINE DISASTER-RESPONSE MESH  ·  ANDROID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40080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969264"/>
            <a:ext cx="110578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6200" b="1">
                <a:solidFill>
                  <a:srgbClr val="EDEFF3"/>
                </a:solidFill>
                <a:latin typeface="Bahnschrift"/>
              </a:rPr>
              <a:t>GROUND ZERO</a:t>
            </a:r>
          </a:p>
          <a:p>
            <a:pPr>
              <a:lnSpc>
                <a:spcPct val="90000"/>
              </a:lnSpc>
            </a:pPr>
            <a:r>
              <a:rPr sz="6200" b="1">
                <a:solidFill>
                  <a:srgbClr val="FF6A2B"/>
                </a:solidFill>
                <a:latin typeface="Bahnschrift"/>
              </a:rPr>
              <a:t>MESH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15184"/>
            <a:ext cx="68558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200" b="0">
                <a:solidFill>
                  <a:srgbClr val="9EA9B8"/>
                </a:solidFill>
                <a:latin typeface="Segoe UI"/>
              </a:rPr>
              <a:t>A trapped person presses one button. The phones that survived carry it hop by hop to a responder — no tower, no router, no internet anywhere in the path — and it arrives not as a message, but as a </a:t>
            </a:r>
            <a:r>
              <a:rPr sz="1200" b="1">
                <a:solidFill>
                  <a:srgbClr val="FF6A2B"/>
                </a:solidFill>
                <a:latin typeface="Segoe UI"/>
              </a:rPr>
              <a:t>ranked board of people.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803904"/>
            <a:ext cx="2654731" cy="969264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3922776"/>
            <a:ext cx="238041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solidFill>
                  <a:srgbClr val="FF6A2B"/>
                </a:solidFill>
                <a:latin typeface="Bahnschrift"/>
              </a:rPr>
              <a:t>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370832"/>
            <a:ext cx="238041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50" b="0" spc="100">
                <a:solidFill>
                  <a:srgbClr val="697585"/>
                </a:solidFill>
                <a:latin typeface="Consolas"/>
              </a:rPr>
              <a:t>SOS LEAVES BEFORE ANY 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963" y="3803904"/>
            <a:ext cx="2654731" cy="969264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5123" y="3922776"/>
            <a:ext cx="238041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solidFill>
                  <a:srgbClr val="FF6A2B"/>
                </a:solidFill>
                <a:latin typeface="Bahnschrif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5123" y="4370832"/>
            <a:ext cx="238041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50" b="0" spc="100">
                <a:solidFill>
                  <a:srgbClr val="697585"/>
                </a:solidFill>
                <a:latin typeface="Consolas"/>
              </a:rPr>
              <a:t>HOPS VERIFIED ACROSS CHAINED RELAYS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999" y="3803904"/>
            <a:ext cx="2654731" cy="969264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6159" y="3922776"/>
            <a:ext cx="238041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solidFill>
                  <a:srgbClr val="FF6A2B"/>
                </a:solidFill>
                <a:latin typeface="Bahnschrift"/>
              </a:rPr>
              <a:t>233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6159" y="4370832"/>
            <a:ext cx="238041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50" b="0" spc="100">
                <a:solidFill>
                  <a:srgbClr val="697585"/>
                </a:solidFill>
                <a:latin typeface="Consolas"/>
              </a:rPr>
              <a:t>BYTE ENVELOPE CEILING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035" y="3803904"/>
            <a:ext cx="2654731" cy="969264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7195" y="3922776"/>
            <a:ext cx="2380411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solidFill>
                  <a:srgbClr val="EDEFF3"/>
                </a:solidFill>
                <a:latin typeface="Bahnschrift"/>
              </a:rPr>
              <a:t>201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195" y="4370832"/>
            <a:ext cx="238041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50" b="0" spc="100">
                <a:solidFill>
                  <a:srgbClr val="697585"/>
                </a:solidFill>
                <a:latin typeface="Consolas"/>
              </a:rPr>
              <a:t>CORE TESTS PASSING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5074920"/>
            <a:ext cx="11057839" cy="0"/>
          </a:xfrm>
          <a:prstGeom prst="line">
            <a:avLst/>
          </a:prstGeom>
          <a:ln w="12700">
            <a:solidFill>
              <a:srgbClr val="FF6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5230368"/>
            <a:ext cx="110578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00" b="0" spc="140">
                <a:solidFill>
                  <a:srgbClr val="697585"/>
                </a:solidFill>
                <a:latin typeface="Consolas"/>
              </a:rPr>
              <a:t>STACK </a:t>
            </a:r>
            <a:r>
              <a:rPr sz="900" b="0" spc="140">
                <a:solidFill>
                  <a:srgbClr val="FF6A2B"/>
                </a:solidFill>
                <a:latin typeface="Consolas"/>
              </a:rPr>
              <a:t>Kotlin · Compose      </a:t>
            </a:r>
            <a:r>
              <a:rPr sz="900" b="0" spc="140">
                <a:solidFill>
                  <a:srgbClr val="697585"/>
                </a:solidFill>
                <a:latin typeface="Consolas"/>
              </a:rPr>
              <a:t>RADIO </a:t>
            </a:r>
            <a:r>
              <a:rPr sz="900" b="0" spc="140">
                <a:solidFill>
                  <a:srgbClr val="FF6A2B"/>
                </a:solidFill>
                <a:latin typeface="Consolas"/>
              </a:rPr>
              <a:t>BLE → Wi-Fi Direct      </a:t>
            </a:r>
            <a:r>
              <a:rPr sz="900" b="0" spc="140">
                <a:solidFill>
                  <a:srgbClr val="697585"/>
                </a:solidFill>
                <a:latin typeface="Consolas"/>
              </a:rPr>
              <a:t>REPO </a:t>
            </a:r>
            <a:r>
              <a:rPr sz="900" b="0" spc="140">
                <a:solidFill>
                  <a:srgbClr val="FF6A2B"/>
                </a:solidFill>
                <a:latin typeface="Consolas"/>
              </a:rPr>
              <a:t>github.com/&lt;add-link&gt;      </a:t>
            </a:r>
            <a:r>
              <a:rPr sz="900" b="0" spc="140">
                <a:solidFill>
                  <a:srgbClr val="697585"/>
                </a:solidFill>
                <a:latin typeface="Consolas"/>
              </a:rPr>
              <a:t>DEMO </a:t>
            </a:r>
            <a:r>
              <a:rPr sz="900" b="0" spc="140">
                <a:solidFill>
                  <a:srgbClr val="FF6A2B"/>
                </a:solidFill>
                <a:latin typeface="Consolas"/>
              </a:rPr>
              <a:t>&lt;add-link&gt;</a:t>
            </a:r>
          </a:p>
          <a:p>
            <a:pPr>
              <a:lnSpc>
                <a:spcPct val="145000"/>
              </a:lnSpc>
            </a:pPr>
            <a:r>
              <a:rPr sz="900" b="0" spc="140">
                <a:solidFill>
                  <a:srgbClr val="697585"/>
                </a:solidFill>
                <a:latin typeface="Consolas"/>
              </a:rPr>
              <a:t>TEAM   </a:t>
            </a:r>
            <a:r>
              <a:rPr sz="900" b="0" spc="140">
                <a:solidFill>
                  <a:srgbClr val="9EA9B8"/>
                </a:solidFill>
                <a:latin typeface="Consolas"/>
              </a:rPr>
              <a:t>Yogesh — Android &amp; device   </a:t>
            </a:r>
            <a:r>
              <a:rPr sz="900" b="0" spc="140">
                <a:solidFill>
                  <a:srgbClr val="697585"/>
                </a:solidFill>
                <a:latin typeface="Consolas"/>
              </a:rPr>
              <a:t>· add remaining members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spc="180">
                <a:solidFill>
                  <a:srgbClr val="FF6A2B"/>
                </a:solidFill>
                <a:latin typeface="Consolas"/>
              </a:rPr>
              <a:t>01 — TEAM COMPOSITION &amp; CONTRIBUTIONS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40080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68096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400" b="1">
                <a:solidFill>
                  <a:srgbClr val="EDEFF3"/>
                </a:solidFill>
                <a:latin typeface="Bahnschrift"/>
              </a:rPr>
              <a:t>TWO OWNERS, ONE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862511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0">
                <a:solidFill>
                  <a:srgbClr val="9EA9B8"/>
                </a:solidFill>
                <a:latin typeface="Segoe UI"/>
              </a:rPr>
              <a:t>The codebase splits along the seam that matters: pure-JVM logic testable without a device, and the Android layer that meets real radios. Every backlog item is tagged </a:t>
            </a:r>
            <a:r>
              <a:rPr sz="1100" b="0">
                <a:solidFill>
                  <a:srgbClr val="FF6A2B"/>
                </a:solidFill>
                <a:latin typeface="Consolas"/>
              </a:rPr>
              <a:t>[A]</a:t>
            </a:r>
            <a:r>
              <a:rPr sz="1100" b="0">
                <a:solidFill>
                  <a:srgbClr val="9EA9B8"/>
                </a:solidFill>
                <a:latin typeface="Segoe UI"/>
              </a:rPr>
              <a:t>, </a:t>
            </a:r>
            <a:r>
              <a:rPr sz="1100" b="0">
                <a:solidFill>
                  <a:srgbClr val="FF6A2B"/>
                </a:solidFill>
                <a:latin typeface="Consolas"/>
              </a:rPr>
              <a:t>[B]</a:t>
            </a:r>
            <a:r>
              <a:rPr sz="1100" b="0">
                <a:solidFill>
                  <a:srgbClr val="9EA9B8"/>
                </a:solidFill>
                <a:latin typeface="Segoe UI"/>
              </a:rPr>
              <a:t> or </a:t>
            </a:r>
            <a:r>
              <a:rPr sz="1100" b="0">
                <a:solidFill>
                  <a:srgbClr val="FF6A2B"/>
                </a:solidFill>
                <a:latin typeface="Consolas"/>
              </a:rPr>
              <a:t>[AB]</a:t>
            </a:r>
            <a:r>
              <a:rPr sz="1100" b="0">
                <a:solidFill>
                  <a:srgbClr val="9EA9B8"/>
                </a:solidFill>
                <a:latin typeface="Segoe UI"/>
              </a:rPr>
              <a:t>, so ownership is never ambiguous.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88920"/>
            <a:ext cx="2641015" cy="2331720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98094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F6A2B">
              <a:alpha val="14000"/>
            </a:srgbClr>
          </a:solidFill>
          <a:ln w="9525">
            <a:solidFill>
              <a:srgbClr val="FF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6A2B"/>
                </a:solidFill>
                <a:latin typeface="Consolas"/>
              </a:rPr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511296"/>
            <a:ext cx="22752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EDEFF3"/>
                </a:solidFill>
                <a:latin typeface="Bahnschrift"/>
              </a:rPr>
              <a:t>YOGESH</a:t>
            </a:r>
          </a:p>
          <a:p>
            <a:pPr>
              <a:spcBef>
                <a:spcPts val="200"/>
              </a:spcBef>
            </a:pPr>
            <a:r>
              <a:rPr sz="800" b="0" spc="110">
                <a:solidFill>
                  <a:srgbClr val="697585"/>
                </a:solidFill>
                <a:latin typeface="Consolas"/>
              </a:rPr>
              <a:t>[B] · ANDROID &amp;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133087"/>
            <a:ext cx="22752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0">
                <a:solidFill>
                  <a:srgbClr val="9EA9B8"/>
                </a:solidFill>
                <a:latin typeface="Segoe UI"/>
              </a:rPr>
              <a:t>Transport layer, foreground service, Compose UI, responder dashboard, on-device sensing.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2535" y="2788920"/>
            <a:ext cx="2641015" cy="2331720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55415" y="2980944"/>
            <a:ext cx="384048" cy="384048"/>
          </a:xfrm>
          <a:prstGeom prst="roundRect">
            <a:avLst>
              <a:gd name="adj" fmla="val 22000"/>
            </a:avLst>
          </a:prstGeom>
          <a:noFill/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97585"/>
                </a:solidFill>
                <a:latin typeface="Consolas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5415" y="3511296"/>
            <a:ext cx="22752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697585"/>
                </a:solidFill>
                <a:latin typeface="Bahnschrift"/>
              </a:rPr>
              <a:t>NAME</a:t>
            </a:r>
          </a:p>
          <a:p>
            <a:pPr>
              <a:spcBef>
                <a:spcPts val="200"/>
              </a:spcBef>
            </a:pPr>
            <a:r>
              <a:rPr sz="800" b="0" spc="110">
                <a:solidFill>
                  <a:srgbClr val="697585"/>
                </a:solidFill>
                <a:latin typeface="Consolas"/>
              </a:rPr>
              <a:t>[A] · CORE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5415" y="4133087"/>
            <a:ext cx="22752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0">
                <a:solidFill>
                  <a:srgbClr val="9EA9B8"/>
                </a:solidFill>
                <a:latin typeface="Segoe UI"/>
              </a:rPr>
              <a:t>Envelope &amp; codecs, gossip propagation, trust consensus, scoring engine, ranking.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2788920"/>
            <a:ext cx="2641015" cy="2331720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61023" y="2980944"/>
            <a:ext cx="384048" cy="384048"/>
          </a:xfrm>
          <a:prstGeom prst="roundRect">
            <a:avLst>
              <a:gd name="adj" fmla="val 22000"/>
            </a:avLst>
          </a:prstGeom>
          <a:noFill/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97585"/>
                </a:solidFill>
                <a:latin typeface="Consolas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023" y="3511296"/>
            <a:ext cx="22752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697585"/>
                </a:solidFill>
                <a:latin typeface="Bahnschrift"/>
              </a:rPr>
              <a:t>NAME</a:t>
            </a:r>
          </a:p>
          <a:p>
            <a:pPr>
              <a:spcBef>
                <a:spcPts val="200"/>
              </a:spcBef>
            </a:pPr>
            <a:r>
              <a:rPr sz="800" b="0" spc="110">
                <a:solidFill>
                  <a:srgbClr val="697585"/>
                </a:solidFill>
                <a:latin typeface="Consolas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1023" y="4133087"/>
            <a:ext cx="22752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0">
                <a:solidFill>
                  <a:srgbClr val="9EA9B8"/>
                </a:solidFill>
                <a:latin typeface="Segoe UI"/>
              </a:rPr>
              <a:t>Add the third member and what they 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3751" y="2788920"/>
            <a:ext cx="2641015" cy="2331720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66631" y="2980944"/>
            <a:ext cx="384048" cy="384048"/>
          </a:xfrm>
          <a:prstGeom prst="roundRect">
            <a:avLst>
              <a:gd name="adj" fmla="val 22000"/>
            </a:avLst>
          </a:prstGeom>
          <a:noFill/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97585"/>
                </a:solidFill>
                <a:latin typeface="Consola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3511296"/>
            <a:ext cx="22752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697585"/>
                </a:solidFill>
                <a:latin typeface="Bahnschrift"/>
              </a:rPr>
              <a:t>NAME</a:t>
            </a:r>
          </a:p>
          <a:p>
            <a:pPr>
              <a:spcBef>
                <a:spcPts val="200"/>
              </a:spcBef>
            </a:pPr>
            <a:r>
              <a:rPr sz="800" b="0" spc="110">
                <a:solidFill>
                  <a:srgbClr val="697585"/>
                </a:solidFill>
                <a:latin typeface="Consolas"/>
              </a:rPr>
              <a:t>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4133087"/>
            <a:ext cx="22752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950" b="0">
                <a:solidFill>
                  <a:srgbClr val="9EA9B8"/>
                </a:solidFill>
                <a:latin typeface="Segoe UI"/>
              </a:rPr>
              <a:t>Add the fourth member and what they own.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58384"/>
            <a:ext cx="11057839" cy="18288"/>
          </a:xfrm>
          <a:prstGeom prst="roundRect">
            <a:avLst>
              <a:gd name="adj" fmla="val 3500"/>
            </a:avLst>
          </a:prstGeom>
          <a:solidFill>
            <a:srgbClr val="22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504688"/>
            <a:ext cx="8846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>
                <a:solidFill>
                  <a:srgbClr val="9EA9B8"/>
                </a:solidFill>
                <a:latin typeface="Segoe UI"/>
              </a:rPr>
              <a:t>Fill these in before presenting. </a:t>
            </a:r>
            <a:r>
              <a:rPr sz="950" b="0">
                <a:solidFill>
                  <a:srgbClr val="697585"/>
                </a:solidFill>
                <a:latin typeface="Segoe UI"/>
              </a:rPr>
              <a:t>Only the first card comes from the repository's commit history — the rest are placeholders.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1727" y="645566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40">
                <a:solidFill>
                  <a:srgbClr val="697585"/>
                </a:solidFill>
                <a:latin typeface="Consolas"/>
              </a:rPr>
              <a:t>Page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spc="180">
                <a:solidFill>
                  <a:srgbClr val="FF6A2B"/>
                </a:solidFill>
                <a:latin typeface="Consolas"/>
              </a:rPr>
              <a:t>02 — PROBLEM UNDERSTANDING &amp; MOTIVATION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40080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68096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400" b="1">
                <a:solidFill>
                  <a:srgbClr val="EDEFF3"/>
                </a:solidFill>
                <a:latin typeface="Bahnschrift"/>
              </a:rPr>
              <a:t>THE NETWORK DIES EXACTLY</a:t>
            </a:r>
          </a:p>
          <a:p>
            <a:pPr>
              <a:lnSpc>
                <a:spcPct val="92000"/>
              </a:lnSpc>
              <a:spcAft>
                <a:spcPts val="0"/>
              </a:spcAft>
            </a:pPr>
            <a:r>
              <a:rPr sz="3400" b="1">
                <a:solidFill>
                  <a:srgbClr val="EDEFF3"/>
                </a:solidFill>
                <a:latin typeface="Bahnschrift"/>
              </a:rPr>
              <a:t>WHEN IT IS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03120"/>
            <a:ext cx="5086606" cy="248716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267712"/>
            <a:ext cx="4684270" cy="504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50" b="1">
                <a:solidFill>
                  <a:srgbClr val="EDEFF3"/>
                </a:solidFill>
                <a:latin typeface="Segoe UI"/>
              </a:rPr>
              <a:t>Infrastructure dependency: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80" b="0">
                <a:solidFill>
                  <a:srgbClr val="9EA9B8"/>
                </a:solidFill>
                <a:latin typeface="Segoe UI"/>
              </a:rPr>
              <a:t>Earthquakes, floods and collapses take out the towers emergency calling runs on — and the traffic surge from everyone else saturates whatever survives.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822592"/>
            <a:ext cx="4684270" cy="504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50" b="1">
                <a:solidFill>
                  <a:srgbClr val="EDEFF3"/>
                </a:solidFill>
                <a:latin typeface="Segoe UI"/>
              </a:rPr>
              <a:t>The unreachable majority: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80" b="0">
                <a:solidFill>
                  <a:srgbClr val="9EA9B8"/>
                </a:solidFill>
                <a:latin typeface="Segoe UI"/>
              </a:rPr>
              <a:t>The worst-affected are the least reachable — indoors, in basements, under rubble, where even satellite SOS cannot see the sky it requires.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377472"/>
            <a:ext cx="4684270" cy="504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50" b="1">
                <a:solidFill>
                  <a:srgbClr val="EDEFF3"/>
                </a:solidFill>
                <a:latin typeface="Segoe UI"/>
              </a:rPr>
              <a:t>No picture for the responder: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80" b="0">
                <a:solidFill>
                  <a:srgbClr val="9EA9B8"/>
                </a:solidFill>
                <a:latin typeface="Segoe UI"/>
              </a:rPr>
              <a:t>Teams arrive without knowing who is trapped, where, or how urgently. Search becomes serial and blind: building by building, floor by floor.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932352"/>
            <a:ext cx="4684270" cy="504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50" b="1">
                <a:solidFill>
                  <a:srgbClr val="EDEFF3"/>
                </a:solidFill>
                <a:latin typeface="Segoe UI"/>
              </a:rPr>
              <a:t>A closing window: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80" b="0">
                <a:solidFill>
                  <a:srgbClr val="9EA9B8"/>
                </a:solidFill>
                <a:latin typeface="Segoe UI"/>
              </a:rPr>
              <a:t>Survival odds under rubble fall steeply with time. Every hour spent searching an empty structure is an hour not spent on an occupied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718304"/>
            <a:ext cx="5086606" cy="1060704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FF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882896"/>
            <a:ext cx="468427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050" b="1">
                <a:solidFill>
                  <a:srgbClr val="FF6A2B"/>
                </a:solidFill>
                <a:latin typeface="Segoe UI"/>
              </a:rPr>
              <a:t>The gap, stated precisely:</a:t>
            </a:r>
          </a:p>
          <a:p>
            <a:pPr>
              <a:lnSpc>
                <a:spcPct val="126000"/>
              </a:lnSpc>
              <a:spcBef>
                <a:spcPts val="200"/>
              </a:spcBef>
            </a:pPr>
            <a:r>
              <a:rPr sz="980" b="0">
                <a:solidFill>
                  <a:srgbClr val="9EA9B8"/>
                </a:solidFill>
                <a:latin typeface="Segoe UI"/>
              </a:rPr>
              <a:t>Not communication in general — a trapped person's ability to be located and prioritised in the first hours, with no infrastructure standing.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4430" y="2103120"/>
            <a:ext cx="5660337" cy="3675887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3886" y="2267712"/>
            <a:ext cx="522142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spc="120">
                <a:solidFill>
                  <a:srgbClr val="697585"/>
                </a:solidFill>
                <a:latin typeface="Consolas"/>
              </a:rPr>
              <a:t>WHAT IS ACTUALLY AVAILABLE AT GROUND ZERO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83886" y="2542032"/>
            <a:ext cx="5221425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83886" y="2670048"/>
            <a:ext cx="522142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9EA9B8"/>
                </a:solidFill>
                <a:latin typeface="Segoe UI"/>
              </a:rPr>
              <a:t>Every phone still in radio range of another phone is a link the disaster did not remove.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64063" y="3383280"/>
            <a:ext cx="749808" cy="56692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FF5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673791" y="3493008"/>
            <a:ext cx="530352" cy="347472"/>
          </a:xfrm>
          <a:prstGeom prst="line">
            <a:avLst/>
          </a:prstGeom>
          <a:ln w="16510">
            <a:solidFill>
              <a:srgbClr val="FF5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673791" y="3493008"/>
            <a:ext cx="530352" cy="347472"/>
          </a:xfrm>
          <a:prstGeom prst="line">
            <a:avLst/>
          </a:prstGeom>
          <a:ln w="16510">
            <a:solidFill>
              <a:srgbClr val="FF5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344607" y="4023360"/>
            <a:ext cx="11887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60" b="0" spc="100">
                <a:solidFill>
                  <a:srgbClr val="FF5A5F"/>
                </a:solidFill>
                <a:latin typeface="Consolas"/>
              </a:rPr>
              <a:t>TOWER 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3886" y="3383280"/>
            <a:ext cx="1133856" cy="868680"/>
          </a:xfrm>
          <a:prstGeom prst="roundRect">
            <a:avLst>
              <a:gd name="adj" fmla="val 9000"/>
            </a:avLst>
          </a:prstGeom>
          <a:solidFill>
            <a:srgbClr val="0F1622">
              <a:alpha val="88000"/>
            </a:srgbClr>
          </a:solidFill>
          <a:ln w="12700">
            <a:solidFill>
              <a:srgbClr val="FF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5326" y="3511296"/>
            <a:ext cx="9509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EDEFF3"/>
                </a:solidFill>
                <a:latin typeface="Consolas"/>
              </a:rPr>
              <a:t>VICTIM</a:t>
            </a:r>
          </a:p>
          <a:p>
            <a:pPr>
              <a:spcBef>
                <a:spcPts val="200"/>
              </a:spcBef>
            </a:pPr>
            <a:r>
              <a:rPr sz="750" b="0">
                <a:solidFill>
                  <a:srgbClr val="697585"/>
                </a:solidFill>
                <a:latin typeface="Consolas"/>
              </a:rPr>
              <a:t>buried · one button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45174" y="3666744"/>
            <a:ext cx="274320" cy="0"/>
          </a:xfrm>
          <a:prstGeom prst="line">
            <a:avLst/>
          </a:prstGeom>
          <a:ln w="15875">
            <a:solidFill>
              <a:srgbClr val="FF6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646926" y="3383280"/>
            <a:ext cx="1133856" cy="868680"/>
          </a:xfrm>
          <a:prstGeom prst="roundRect">
            <a:avLst>
              <a:gd name="adj" fmla="val 9000"/>
            </a:avLst>
          </a:prstGeom>
          <a:solidFill>
            <a:srgbClr val="0F1622">
              <a:alpha val="88000"/>
            </a:srgbClr>
          </a:solidFill>
          <a:ln w="12700">
            <a:solidFill>
              <a:srgbClr val="9EA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8366" y="3511296"/>
            <a:ext cx="9509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EDEFF3"/>
                </a:solidFill>
                <a:latin typeface="Consolas"/>
              </a:rPr>
              <a:t>BYSTANDER</a:t>
            </a:r>
          </a:p>
          <a:p>
            <a:pPr>
              <a:spcBef>
                <a:spcPts val="200"/>
              </a:spcBef>
            </a:pPr>
            <a:r>
              <a:rPr sz="750" b="0">
                <a:solidFill>
                  <a:srgbClr val="697585"/>
                </a:solidFill>
                <a:latin typeface="Consolas"/>
              </a:rPr>
              <a:t>relays once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08214" y="3666744"/>
            <a:ext cx="274320" cy="0"/>
          </a:xfrm>
          <a:prstGeom prst="line">
            <a:avLst/>
          </a:prstGeom>
          <a:ln w="15875">
            <a:solidFill>
              <a:srgbClr val="FF6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09966" y="3383280"/>
            <a:ext cx="1133856" cy="868680"/>
          </a:xfrm>
          <a:prstGeom prst="roundRect">
            <a:avLst>
              <a:gd name="adj" fmla="val 9000"/>
            </a:avLst>
          </a:prstGeom>
          <a:solidFill>
            <a:srgbClr val="0F1622">
              <a:alpha val="88000"/>
            </a:srgbClr>
          </a:solidFill>
          <a:ln w="12700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1406" y="3511296"/>
            <a:ext cx="9509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EDEFF3"/>
                </a:solidFill>
                <a:latin typeface="Consolas"/>
              </a:rPr>
              <a:t>RESPONDER</a:t>
            </a:r>
          </a:p>
          <a:p>
            <a:pPr>
              <a:spcBef>
                <a:spcPts val="200"/>
              </a:spcBef>
            </a:pPr>
            <a:r>
              <a:rPr sz="750" b="0">
                <a:solidFill>
                  <a:srgbClr val="697585"/>
                </a:solidFill>
                <a:latin typeface="Consolas"/>
              </a:rPr>
              <a:t>ranked 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3886" y="4626864"/>
            <a:ext cx="522142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800" b="0" spc="60">
                <a:solidFill>
                  <a:srgbClr val="FF6A2B"/>
                </a:solidFill>
                <a:latin typeface="Consolas"/>
              </a:rPr>
              <a:t>0 towers required   ·   0 internet required   ·   1 button to be seen</a:t>
            </a:r>
          </a:p>
          <a:p>
            <a:pPr>
              <a:lnSpc>
                <a:spcPct val="135000"/>
              </a:lnSpc>
            </a:pPr>
            <a:r>
              <a:rPr sz="950" b="0">
                <a:solidFill>
                  <a:srgbClr val="697585"/>
                </a:solidFill>
                <a:latin typeface="Segoe UI"/>
              </a:rPr>
              <a:t>The link the disaster did not remove is phone-to-phone radio.</a:t>
            </a:r>
          </a:p>
          <a:p>
            <a:pPr>
              <a:lnSpc>
                <a:spcPct val="135000"/>
              </a:lnSpc>
            </a:pPr>
            <a:r>
              <a:rPr sz="950" b="0">
                <a:solidFill>
                  <a:srgbClr val="697585"/>
                </a:solidFill>
                <a:latin typeface="Segoe UI"/>
              </a:rPr>
              <a:t>Every hop is one the mesh already had.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61727" y="645566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40">
                <a:solidFill>
                  <a:srgbClr val="697585"/>
                </a:solidFill>
                <a:latin typeface="Consolas"/>
              </a:rPr>
              <a:t>Page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spc="180">
                <a:solidFill>
                  <a:srgbClr val="FF6A2B"/>
                </a:solidFill>
                <a:latin typeface="Consolas"/>
              </a:rPr>
              <a:t>03 — EXISTING APPROACHES &amp; WHY THEY FAIL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40080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68096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400" b="1">
                <a:solidFill>
                  <a:srgbClr val="EDEFF3"/>
                </a:solidFill>
                <a:latin typeface="Bahnschrift"/>
              </a:rPr>
              <a:t>EVERY CURRENT OPTION ASSUMES</a:t>
            </a:r>
          </a:p>
          <a:p>
            <a:pPr>
              <a:lnSpc>
                <a:spcPct val="92000"/>
              </a:lnSpc>
              <a:spcAft>
                <a:spcPts val="0"/>
              </a:spcAft>
            </a:pPr>
            <a:r>
              <a:rPr sz="3400" b="1">
                <a:solidFill>
                  <a:srgbClr val="EDEFF3"/>
                </a:solidFill>
                <a:latin typeface="Bahnschrift"/>
              </a:rPr>
              <a:t>SOMETHING THE DISASTER REMOVED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21408"/>
            <a:ext cx="11057839" cy="310896"/>
          </a:xfrm>
          <a:prstGeom prst="roundRect">
            <a:avLst>
              <a:gd name="adj" fmla="val 10000"/>
            </a:avLst>
          </a:prstGeom>
          <a:solidFill>
            <a:srgbClr val="0F1622">
              <a:alpha val="90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203703"/>
            <a:ext cx="19202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spc="140">
                <a:solidFill>
                  <a:srgbClr val="697585"/>
                </a:solidFill>
                <a:latin typeface="Consolas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6352" y="2203703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spc="140">
                <a:solidFill>
                  <a:srgbClr val="697585"/>
                </a:solidFill>
                <a:latin typeface="Consolas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2232" y="2203703"/>
            <a:ext cx="2148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spc="140">
                <a:solidFill>
                  <a:srgbClr val="697585"/>
                </a:solidFill>
                <a:latin typeface="Consolas"/>
              </a:rPr>
              <a:t>ASSUMES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03703"/>
            <a:ext cx="51142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spc="140">
                <a:solidFill>
                  <a:srgbClr val="697585"/>
                </a:solidFill>
                <a:latin typeface="Consolas"/>
              </a:rPr>
              <a:t>LIMITATION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05456"/>
            <a:ext cx="1883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60" b="1">
                <a:solidFill>
                  <a:srgbClr val="EDEFF3"/>
                </a:solidFill>
                <a:latin typeface="Segoe UI"/>
              </a:rPr>
              <a:t>Cellular call / 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2505456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697585"/>
                </a:solidFill>
                <a:latin typeface="Segoe UI"/>
              </a:rPr>
              <a:t>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2505456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697585"/>
                </a:solidFill>
                <a:latin typeface="Segoe UI"/>
              </a:rPr>
              <a:t>A working, uncongested tower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05456"/>
            <a:ext cx="5077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The tower is the thing that just fell — or is saturated by everyone else calling at once.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2953512"/>
            <a:ext cx="11057839" cy="0"/>
          </a:xfrm>
          <a:prstGeom prst="line">
            <a:avLst/>
          </a:prstGeom>
          <a:ln w="6350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3054096"/>
            <a:ext cx="1883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60" b="1">
                <a:solidFill>
                  <a:srgbClr val="EDEFF3"/>
                </a:solidFill>
                <a:latin typeface="Segoe UI"/>
              </a:rPr>
              <a:t>Satellite 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3054096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697585"/>
                </a:solidFill>
                <a:latin typeface="Segoe UI"/>
              </a:rPr>
              <a:t>Space segment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42232" y="3054096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697585"/>
                </a:solidFill>
                <a:latin typeface="Segoe UI"/>
              </a:rPr>
              <a:t>Unobstructed view of the sky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054096"/>
            <a:ext cx="5077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Fails precisely where victims are: indoors, basements, under concrete. Recent flagships only.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3502152"/>
            <a:ext cx="11057839" cy="0"/>
          </a:xfrm>
          <a:prstGeom prst="line">
            <a:avLst/>
          </a:prstGeom>
          <a:ln w="6350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3602736"/>
            <a:ext cx="1883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60" b="1">
                <a:solidFill>
                  <a:srgbClr val="EDEFF3"/>
                </a:solidFill>
                <a:latin typeface="Segoe UI"/>
              </a:rPr>
              <a:t>Whistles, tapping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3602736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697585"/>
                </a:solidFill>
                <a:latin typeface="Segoe UI"/>
              </a:rPr>
              <a:t>Acoustic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2232" y="3602736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697585"/>
                </a:solidFill>
                <a:latin typeface="Segoe UI"/>
              </a:rPr>
              <a:t>A searcher already within earshot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602736"/>
            <a:ext cx="5077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Metres of range, no triage, no persistence — nothing survives the moment it is made.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4050791"/>
            <a:ext cx="11057839" cy="0"/>
          </a:xfrm>
          <a:prstGeom prst="line">
            <a:avLst/>
          </a:prstGeom>
          <a:ln w="6350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2" y="4151375"/>
            <a:ext cx="1883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60" b="1">
                <a:solidFill>
                  <a:srgbClr val="EDEFF3"/>
                </a:solidFill>
                <a:latin typeface="Segoe UI"/>
              </a:rPr>
              <a:t>Drones, thermal, K9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6352" y="4151375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697585"/>
                </a:solidFill>
                <a:latin typeface="Segoe UI"/>
              </a:rPr>
              <a:t>Remote sensing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2" y="4151375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697585"/>
                </a:solidFill>
                <a:latin typeface="Segoe UI"/>
              </a:rPr>
              <a:t>Line of sight, trained operators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151375"/>
            <a:ext cx="5077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Cannot see through rubble or concrete floors, and is inherently sequential — one site at a time.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4599431"/>
            <a:ext cx="11057839" cy="0"/>
          </a:xfrm>
          <a:prstGeom prst="line">
            <a:avLst/>
          </a:prstGeom>
          <a:ln w="6350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2" y="4700015"/>
            <a:ext cx="1883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60" b="1">
                <a:solidFill>
                  <a:srgbClr val="EDEFF3"/>
                </a:solidFill>
                <a:latin typeface="Segoe UI"/>
              </a:rPr>
              <a:t>Ham radio / Meshtastic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16352" y="4700015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697585"/>
                </a:solidFill>
                <a:latin typeface="Segoe UI"/>
              </a:rPr>
              <a:t>Dedicated RF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2232" y="4700015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697585"/>
                </a:solidFill>
                <a:latin typeface="Segoe UI"/>
              </a:rPr>
              <a:t>Special hardware and trained 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700015"/>
            <a:ext cx="5077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Excellent for responders, but not in a victim's pocket when the ceiling comes down.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5148071"/>
            <a:ext cx="11057839" cy="0"/>
          </a:xfrm>
          <a:prstGeom prst="line">
            <a:avLst/>
          </a:prstGeom>
          <a:ln w="6350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3232" y="5248655"/>
            <a:ext cx="1883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60" b="1">
                <a:solidFill>
                  <a:srgbClr val="EDEFF3"/>
                </a:solidFill>
                <a:latin typeface="Segoe UI"/>
              </a:rPr>
              <a:t>Consumer mesh chat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16352" y="5248655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697585"/>
                </a:solidFill>
                <a:latin typeface="Segoe UI"/>
              </a:rPr>
              <a:t>P2P messaging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42232" y="5248655"/>
            <a:ext cx="2112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697585"/>
                </a:solidFill>
                <a:latin typeface="Segoe UI"/>
              </a:rPr>
              <a:t>That the problem is messaging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5248655"/>
            <a:ext cx="50776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Carries conversations, not casualties: no urgency model, no provenance, no ranking.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632704"/>
            <a:ext cx="6192389" cy="84124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FF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" y="5779008"/>
            <a:ext cx="579005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00" b="1">
                <a:solidFill>
                  <a:srgbClr val="FF6A2B"/>
                </a:solidFill>
                <a:latin typeface="Segoe UI"/>
              </a:rPr>
              <a:t>The solution gap:  </a:t>
            </a:r>
            <a:r>
              <a:rPr sz="950" b="0">
                <a:solidFill>
                  <a:srgbClr val="9EA9B8"/>
                </a:solidFill>
                <a:latin typeface="Segoe UI"/>
              </a:rPr>
              <a:t>Off-grid mesh messengers get the transport right and leave the decision layer entirely absent. A responder holding 200 unranked messages and capacity for ~14 actions is no better off than one holding none.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60485" y="5632704"/>
            <a:ext cx="4664281" cy="84124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61653" y="5779008"/>
            <a:ext cx="426194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4000"/>
              </a:lnSpc>
            </a:pPr>
            <a:r>
              <a:rPr sz="1000" b="1">
                <a:solidFill>
                  <a:srgbClr val="EDEFF3"/>
                </a:solidFill>
                <a:latin typeface="Segoe UI"/>
              </a:rPr>
              <a:t>What rescue-grade additionally needs:  </a:t>
            </a:r>
            <a:r>
              <a:rPr sz="950" b="0">
                <a:solidFill>
                  <a:srgbClr val="9EA9B8"/>
                </a:solidFill>
                <a:latin typeface="Segoe UI"/>
              </a:rPr>
              <a:t>Dedup into people not messages · an explicit urgency model · provenance a responder can trust · a radio budget that survives the night.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61727" y="645566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40">
                <a:solidFill>
                  <a:srgbClr val="697585"/>
                </a:solidFill>
                <a:latin typeface="Consolas"/>
              </a:rPr>
              <a:t>Page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spc="180">
                <a:solidFill>
                  <a:srgbClr val="FF6A2B"/>
                </a:solidFill>
                <a:latin typeface="Consolas"/>
              </a:rPr>
              <a:t>04 — PROPOSED SOLUTION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40080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68096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400" b="1">
                <a:solidFill>
                  <a:srgbClr val="EDEFF3"/>
                </a:solidFill>
                <a:latin typeface="Bahnschrift"/>
              </a:rPr>
              <a:t>THE PHONES ALREADY THERE</a:t>
            </a:r>
          </a:p>
          <a:p>
            <a:pPr>
              <a:lnSpc>
                <a:spcPct val="92000"/>
              </a:lnSpc>
              <a:spcAft>
                <a:spcPts val="0"/>
              </a:spcAft>
            </a:pPr>
            <a:r>
              <a:rPr sz="3400" b="1">
                <a:solidFill>
                  <a:srgbClr val="EDEFF3"/>
                </a:solidFill>
                <a:latin typeface="Bahnschrift"/>
              </a:rPr>
              <a:t>BECOME THE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84831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000" b="1">
                <a:solidFill>
                  <a:srgbClr val="FF6A2B"/>
                </a:solidFill>
                <a:latin typeface="Bahnschrift"/>
              </a:rPr>
              <a:t>SENSE     </a:t>
            </a:r>
            <a:r>
              <a:rPr sz="4000" b="1">
                <a:solidFill>
                  <a:srgbClr val="FF9052"/>
                </a:solidFill>
                <a:latin typeface="Bahnschrift"/>
              </a:rPr>
              <a:t>RELAY     </a:t>
            </a:r>
            <a:r>
              <a:rPr sz="4000" b="1">
                <a:solidFill>
                  <a:srgbClr val="EDEFF3"/>
                </a:solidFill>
                <a:latin typeface="Bahnschrift"/>
              </a:rPr>
              <a:t>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71216"/>
            <a:ext cx="3564026" cy="157276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017520"/>
            <a:ext cx="27410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EDEFF3"/>
                </a:solidFill>
                <a:latin typeface="Bahnschrift"/>
              </a:rPr>
              <a:t>SENSE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4570" y="3008376"/>
            <a:ext cx="603504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3ED598"/>
                </a:solidFill>
                <a:latin typeface="Consolas"/>
              </a:rPr>
              <a:t>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310128"/>
            <a:ext cx="319826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40" b="0">
                <a:solidFill>
                  <a:srgbClr val="9EA9B8"/>
                </a:solidFill>
                <a:latin typeface="Segoe UI"/>
              </a:rPr>
              <a:t>One press broadcasts at full danger in 0 ms, before any inference runs. A 30-second window then adds accelerometer, light and microphone evidence — and re-broadcasts it as an update to the same person, never a second alert.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3834" y="2871216"/>
            <a:ext cx="3564026" cy="157276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6714" y="3017520"/>
            <a:ext cx="27410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EDEFF3"/>
                </a:solidFill>
                <a:latin typeface="Bahnschrift"/>
              </a:rPr>
              <a:t>RELAY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91476" y="3008376"/>
            <a:ext cx="603504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3ED598"/>
                </a:solidFill>
                <a:latin typeface="Consolas"/>
              </a:rPr>
              <a:t>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6714" y="3310128"/>
            <a:ext cx="319826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40" b="0">
                <a:solidFill>
                  <a:srgbClr val="9EA9B8"/>
                </a:solidFill>
                <a:latin typeface="Segoe UI"/>
              </a:rPr>
              <a:t>Every phone that hears something new forwards it exactly once and spends one TTL. That single rule stops four phones in a diamond turning one report into an exponential storm that kills every battery in range.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0740" y="2871216"/>
            <a:ext cx="3564026" cy="157276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3017520"/>
            <a:ext cx="27410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EDEFF3"/>
                </a:solidFill>
                <a:latin typeface="Bahnschrift"/>
              </a:rPr>
              <a:t>TRIAGE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8383" y="3008376"/>
            <a:ext cx="603504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3ED598"/>
                </a:solidFill>
                <a:latin typeface="Consolas"/>
              </a:rPr>
              <a:t>TESTED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3620" y="3310128"/>
            <a:ext cx="319826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40" b="0">
                <a:solidFill>
                  <a:srgbClr val="9EA9B8"/>
                </a:solidFill>
                <a:latin typeface="Segoe UI"/>
              </a:rPr>
              <a:t>The responder's phone serves a board ranked by severity, corroboration and recency against an explicit capacity budget — deduplicated into people, not messages.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90288"/>
            <a:ext cx="5245455" cy="1536192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736592"/>
            <a:ext cx="48796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697585"/>
                </a:solidFill>
                <a:latin typeface="Bahnschrift"/>
              </a:rPr>
              <a:t>MESH MESSENGER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9311" y="4590288"/>
            <a:ext cx="5245455" cy="1536192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FF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2191" y="4736592"/>
            <a:ext cx="48796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FF6A2B"/>
                </a:solidFill>
                <a:latin typeface="Bahnschrift"/>
              </a:rPr>
              <a:t>GROUND ZERO MESH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03823" y="521207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spc="160">
                <a:solidFill>
                  <a:srgbClr val="697585"/>
                </a:solidFill>
                <a:latin typeface="Consolas"/>
              </a:rPr>
              <a:t>VS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065775"/>
            <a:ext cx="27276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19" b="0">
                <a:solidFill>
                  <a:srgbClr val="697585"/>
                </a:solidFill>
                <a:latin typeface="Segoe UI"/>
              </a:rPr>
              <a:t>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4564" y="5065775"/>
            <a:ext cx="2125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60" b="0">
                <a:solidFill>
                  <a:srgbClr val="9EA9B8"/>
                </a:solidFill>
                <a:latin typeface="Consolas"/>
              </a:rPr>
              <a:t>message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191" y="5065775"/>
            <a:ext cx="230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19" b="0">
                <a:solidFill>
                  <a:srgbClr val="697585"/>
                </a:solidFill>
                <a:latin typeface="Segoe UI"/>
              </a:rPr>
              <a:t>Unit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0192" y="5065775"/>
            <a:ext cx="25081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60" b="0">
                <a:solidFill>
                  <a:srgbClr val="FF9052"/>
                </a:solidFill>
                <a:latin typeface="Consolas"/>
              </a:rPr>
              <a:t>incident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321807"/>
            <a:ext cx="27276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19" b="0">
                <a:solidFill>
                  <a:srgbClr val="697585"/>
                </a:solidFill>
                <a:latin typeface="Segoe UI"/>
              </a:rPr>
              <a:t>10 relays of 1 person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4564" y="5321807"/>
            <a:ext cx="2125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60" b="0">
                <a:solidFill>
                  <a:srgbClr val="9EA9B8"/>
                </a:solidFill>
                <a:latin typeface="Consolas"/>
              </a:rPr>
              <a:t>10 entries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2191" y="5321807"/>
            <a:ext cx="230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19" b="0">
                <a:solidFill>
                  <a:srgbClr val="697585"/>
                </a:solidFill>
                <a:latin typeface="Segoe UI"/>
              </a:rPr>
              <a:t>10 relays of 1 person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0192" y="5321807"/>
            <a:ext cx="25081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60" b="0">
                <a:solidFill>
                  <a:srgbClr val="FF9052"/>
                </a:solidFill>
                <a:latin typeface="Consolas"/>
              </a:rPr>
              <a:t>1 entry, 9 corroborations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577840"/>
            <a:ext cx="27276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19" b="0">
                <a:solidFill>
                  <a:srgbClr val="697585"/>
                </a:solidFill>
                <a:latin typeface="Segoe UI"/>
              </a:rPr>
              <a:t>Provenance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4564" y="5577840"/>
            <a:ext cx="2125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60" b="0">
                <a:solidFill>
                  <a:srgbClr val="9EA9B8"/>
                </a:solidFill>
                <a:latin typeface="Consolas"/>
              </a:rPr>
              <a:t>none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2191" y="5577840"/>
            <a:ext cx="230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19" b="0">
                <a:solidFill>
                  <a:srgbClr val="697585"/>
                </a:solidFill>
                <a:latin typeface="Segoe UI"/>
              </a:rPr>
              <a:t>Provenance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0192" y="5577840"/>
            <a:ext cx="25081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60" b="0">
                <a:solidFill>
                  <a:srgbClr val="FF9052"/>
                </a:solidFill>
                <a:latin typeface="Consolas"/>
              </a:rPr>
              <a:t>per-hop tier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833872"/>
            <a:ext cx="27276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19" b="0">
                <a:solidFill>
                  <a:srgbClr val="697585"/>
                </a:solidFill>
                <a:latin typeface="Segoe UI"/>
              </a:rPr>
              <a:t>Ordering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4564" y="5833872"/>
            <a:ext cx="2125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60" b="0">
                <a:solidFill>
                  <a:srgbClr val="9EA9B8"/>
                </a:solidFill>
                <a:latin typeface="Consolas"/>
              </a:rPr>
              <a:t>chronological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2191" y="5833872"/>
            <a:ext cx="230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19" b="0">
                <a:solidFill>
                  <a:srgbClr val="697585"/>
                </a:solidFill>
                <a:latin typeface="Segoe UI"/>
              </a:rPr>
              <a:t>Ordering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70192" y="5833872"/>
            <a:ext cx="25081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60" b="0">
                <a:solidFill>
                  <a:srgbClr val="FF9052"/>
                </a:solidFill>
                <a:latin typeface="Consolas"/>
              </a:rPr>
              <a:t>severity × trust × recency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6327648"/>
            <a:ext cx="1834515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3ED598"/>
                </a:solidFill>
                <a:latin typeface="Consolas"/>
              </a:rPr>
              <a:t>VERIFIED BY AUTOMATED TESTS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11171" y="6327648"/>
            <a:ext cx="1603375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2B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F2B441"/>
                </a:solidFill>
                <a:latin typeface="Consolas"/>
              </a:rPr>
              <a:t>BUILT, NOT FIELD-TESTED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24274" y="6327648"/>
            <a:ext cx="1025525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5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FF5A5F"/>
                </a:solidFill>
                <a:latin typeface="Consolas"/>
              </a:rPr>
              <a:t>NOT BUILT YET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1727" y="645566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40">
                <a:solidFill>
                  <a:srgbClr val="697585"/>
                </a:solidFill>
                <a:latin typeface="Consolas"/>
              </a:rPr>
              <a:t>Page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spc="180">
                <a:solidFill>
                  <a:srgbClr val="FF6A2B"/>
                </a:solidFill>
                <a:latin typeface="Consolas"/>
              </a:rPr>
              <a:t>05 — SOLUTION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40080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68096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400" b="1">
                <a:solidFill>
                  <a:srgbClr val="EDEFF3"/>
                </a:solidFill>
                <a:latin typeface="Bahnschrift"/>
              </a:rPr>
              <a:t>FOUR LAYERS, ONE ENVELOPE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29968"/>
            <a:ext cx="5418341" cy="93268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FF6A2B"/>
                </a:solidFill>
                <a:latin typeface="Consolas"/>
              </a:rPr>
              <a:t>L3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167128"/>
            <a:ext cx="331522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40">
                <a:solidFill>
                  <a:srgbClr val="EDEFF3"/>
                </a:solidFill>
                <a:latin typeface="Bahnschrift"/>
              </a:rPr>
              <a:t>RESPONDER 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5381" y="2157984"/>
            <a:ext cx="1225296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3ED598"/>
                </a:solidFill>
                <a:latin typeface="Consolas"/>
              </a:rPr>
              <a:t>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414016"/>
            <a:ext cx="459538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890" b="0">
                <a:solidFill>
                  <a:srgbClr val="9EA9B8"/>
                </a:solidFill>
                <a:latin typeface="Segoe UI"/>
              </a:rPr>
              <a:t>Ranks incidents by severity, trust and recency against an explicit ~14-action capacity budget. Serves a dashboard over the phone's own hotspot — a laptop joins and browses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35808"/>
            <a:ext cx="5418341" cy="93268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1012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FF6A2B"/>
                </a:solidFill>
                <a:latin typeface="Consolas"/>
              </a:rP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72968"/>
            <a:ext cx="331522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40">
                <a:solidFill>
                  <a:srgbClr val="EDEFF3"/>
                </a:solidFill>
                <a:latin typeface="Bahnschrift"/>
              </a:rPr>
              <a:t>PROPAGATION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5381" y="3163824"/>
            <a:ext cx="1225296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3ED598"/>
                </a:solidFill>
                <a:latin typeface="Consolas"/>
              </a:rPr>
              <a:t>TESTED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419856"/>
            <a:ext cx="459538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890" b="0">
                <a:solidFill>
                  <a:srgbClr val="9EA9B8"/>
                </a:solidFill>
                <a:latin typeface="Segoe UI"/>
              </a:rPr>
              <a:t>Selective, bounded, hop-counted relay. Dedups on incident identity plus changeable content, so enrichment travels but byte-identical echoes die at the first node holding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41648"/>
            <a:ext cx="5418341" cy="93268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FF6A2B"/>
                </a:solidFill>
                <a:latin typeface="Consolas"/>
              </a:rPr>
              <a:t>L1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178808"/>
            <a:ext cx="331522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40">
                <a:solidFill>
                  <a:srgbClr val="EDEFF3"/>
                </a:solidFill>
                <a:latin typeface="Bahnschrift"/>
              </a:rPr>
              <a:t>NODE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95381" y="4169663"/>
            <a:ext cx="1225296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3ED598"/>
                </a:solidFill>
                <a:latin typeface="Consolas"/>
              </a:rPr>
              <a:t>TESTED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425696"/>
            <a:ext cx="459538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890" b="0">
                <a:solidFill>
                  <a:srgbClr val="9EA9B8"/>
                </a:solidFill>
                <a:latin typeface="Segoe UI"/>
              </a:rPr>
              <a:t>Observe, score, share. Three independent tickers — sensing, heartbeat, liveness — so slowing the radio to save battery never blinds the sensor.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47488"/>
            <a:ext cx="5418341" cy="93268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21807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FF6A2B"/>
                </a:solidFill>
                <a:latin typeface="Consolas"/>
              </a:rPr>
              <a:t>L0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5184648"/>
            <a:ext cx="331522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spc="40">
                <a:solidFill>
                  <a:srgbClr val="EDEFF3"/>
                </a:solidFill>
                <a:latin typeface="Bahnschrift"/>
              </a:rPr>
              <a:t>TRANSPORT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95381" y="5175503"/>
            <a:ext cx="1225296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2B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F2B441"/>
                </a:solidFill>
                <a:latin typeface="Consolas"/>
              </a:rPr>
              <a:t>2 PHONES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431536"/>
            <a:ext cx="459538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890" b="0">
                <a:solidFill>
                  <a:srgbClr val="9EA9B8"/>
                </a:solidFill>
                <a:latin typeface="Segoe UI"/>
              </a:rPr>
              <a:t>A byte-oriented seam. Nearby Connections, a TCP relay, or a LoRa bridge — the layers above never learn which radio they are holding.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6165" y="2029968"/>
            <a:ext cx="5328601" cy="303580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5621" y="2176272"/>
            <a:ext cx="488968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spc="120">
                <a:solidFill>
                  <a:srgbClr val="697585"/>
                </a:solidFill>
                <a:latin typeface="Consolas"/>
              </a:rPr>
              <a:t>ONE ENVELOPE · EVERY HOP · EVERY RADIO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15621" y="2432304"/>
            <a:ext cx="4889690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15621" y="2596896"/>
            <a:ext cx="4889689" cy="530352"/>
          </a:xfrm>
          <a:prstGeom prst="roundRect">
            <a:avLst>
              <a:gd name="adj" fmla="val 12000"/>
            </a:avLst>
          </a:prstGeom>
          <a:solidFill>
            <a:srgbClr val="0F1622">
              <a:alpha val="88000"/>
            </a:srgbClr>
          </a:solidFill>
          <a:ln w="12700">
            <a:solidFill>
              <a:srgbClr val="FF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61925" y="2679191"/>
            <a:ext cx="327120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950" b="1">
                <a:solidFill>
                  <a:srgbClr val="EDEFF3"/>
                </a:solidFill>
                <a:latin typeface="Consolas"/>
              </a:rPr>
              <a:t>VICTIM   </a:t>
            </a:r>
            <a:r>
              <a:rPr sz="780" b="0">
                <a:solidFill>
                  <a:srgbClr val="697585"/>
                </a:solidFill>
                <a:latin typeface="Consolas"/>
              </a:rPr>
              <a:t>presses SOS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0247" y="2752344"/>
            <a:ext cx="16276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0">
                <a:solidFill>
                  <a:srgbClr val="FF6A2B"/>
                </a:solidFill>
                <a:latin typeface="Consolas"/>
              </a:rPr>
              <a:t>hops 0 · ttl 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60466" y="3145536"/>
            <a:ext cx="0" cy="128016"/>
          </a:xfrm>
          <a:prstGeom prst="line">
            <a:avLst/>
          </a:prstGeom>
          <a:ln w="15875">
            <a:solidFill>
              <a:srgbClr val="FF6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15621" y="3273552"/>
            <a:ext cx="4889689" cy="530352"/>
          </a:xfrm>
          <a:prstGeom prst="roundRect">
            <a:avLst>
              <a:gd name="adj" fmla="val 12000"/>
            </a:avLst>
          </a:prstGeom>
          <a:solidFill>
            <a:srgbClr val="0F1622">
              <a:alpha val="88000"/>
            </a:srgbClr>
          </a:solidFill>
          <a:ln w="12700">
            <a:solidFill>
              <a:srgbClr val="9EA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61925" y="3355848"/>
            <a:ext cx="327120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950" b="1">
                <a:solidFill>
                  <a:srgbClr val="EDEFF3"/>
                </a:solidFill>
                <a:latin typeface="Consolas"/>
              </a:rPr>
              <a:t>RELAY A   </a:t>
            </a:r>
            <a:r>
              <a:rPr sz="780" b="0">
                <a:solidFill>
                  <a:srgbClr val="697585"/>
                </a:solidFill>
                <a:latin typeface="Consolas"/>
              </a:rPr>
              <a:t>bystander phone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0247" y="3429000"/>
            <a:ext cx="16276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0">
                <a:solidFill>
                  <a:srgbClr val="FF6A2B"/>
                </a:solidFill>
                <a:latin typeface="Consolas"/>
              </a:rPr>
              <a:t>hops 1 · ttl 8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60466" y="3822191"/>
            <a:ext cx="0" cy="128017"/>
          </a:xfrm>
          <a:prstGeom prst="line">
            <a:avLst/>
          </a:prstGeom>
          <a:ln w="15875">
            <a:solidFill>
              <a:srgbClr val="FF6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15621" y="3950208"/>
            <a:ext cx="4889689" cy="530352"/>
          </a:xfrm>
          <a:prstGeom prst="roundRect">
            <a:avLst>
              <a:gd name="adj" fmla="val 12000"/>
            </a:avLst>
          </a:prstGeom>
          <a:solidFill>
            <a:srgbClr val="0F1622">
              <a:alpha val="88000"/>
            </a:srgbClr>
          </a:solidFill>
          <a:ln w="12700">
            <a:solidFill>
              <a:srgbClr val="9EA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1925" y="4032504"/>
            <a:ext cx="327120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950" b="1">
                <a:solidFill>
                  <a:srgbClr val="EDEFF3"/>
                </a:solidFill>
                <a:latin typeface="Consolas"/>
              </a:rPr>
              <a:t>RELAY B   </a:t>
            </a:r>
            <a:r>
              <a:rPr sz="780" b="0">
                <a:solidFill>
                  <a:srgbClr val="697585"/>
                </a:solidFill>
                <a:latin typeface="Consolas"/>
              </a:rPr>
              <a:t>stairwell node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0247" y="4105656"/>
            <a:ext cx="16276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0">
                <a:solidFill>
                  <a:srgbClr val="FF6A2B"/>
                </a:solidFill>
                <a:latin typeface="Consolas"/>
              </a:rPr>
              <a:t>hops 2 · ttl 7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960466" y="4498848"/>
            <a:ext cx="0" cy="128016"/>
          </a:xfrm>
          <a:prstGeom prst="line">
            <a:avLst/>
          </a:prstGeom>
          <a:ln w="15875">
            <a:solidFill>
              <a:srgbClr val="FF6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515621" y="4626864"/>
            <a:ext cx="4889689" cy="530352"/>
          </a:xfrm>
          <a:prstGeom prst="roundRect">
            <a:avLst>
              <a:gd name="adj" fmla="val 12000"/>
            </a:avLst>
          </a:prstGeom>
          <a:solidFill>
            <a:srgbClr val="0F1622">
              <a:alpha val="88000"/>
            </a:srgbClr>
          </a:solidFill>
          <a:ln w="12700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61925" y="4709160"/>
            <a:ext cx="327120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950" b="1">
                <a:solidFill>
                  <a:srgbClr val="EDEFF3"/>
                </a:solidFill>
                <a:latin typeface="Consolas"/>
              </a:rPr>
              <a:t>RESPONDER   </a:t>
            </a:r>
            <a:r>
              <a:rPr sz="780" b="0">
                <a:solidFill>
                  <a:srgbClr val="697585"/>
                </a:solidFill>
                <a:latin typeface="Consolas"/>
              </a:rPr>
              <a:t>ranked 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0247" y="4782312"/>
            <a:ext cx="16276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60" b="0">
                <a:solidFill>
                  <a:srgbClr val="3ED598"/>
                </a:solidFill>
                <a:latin typeface="Consolas"/>
              </a:rPr>
              <a:t>hops 3 · SABDA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96165" y="5175504"/>
            <a:ext cx="5328601" cy="1170432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5621" y="5321808"/>
            <a:ext cx="488968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· Anything past hop 0 is testimony — decided by the receiver, not claimed by the sender.</a:t>
            </a:r>
          </a:p>
          <a:p>
            <a:pPr>
              <a:lnSpc>
                <a:spcPct val="130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· A duplicate arriving by another path is corroboration, recorded once.</a:t>
            </a:r>
          </a:p>
          <a:p>
            <a:pPr>
              <a:lnSpc>
                <a:spcPct val="130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· TTL is spent per forward, so reach is a design parameter — not a function of crowd size.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6089904"/>
            <a:ext cx="5418341" cy="56692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199632"/>
            <a:ext cx="508915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00" b="1">
                <a:solidFill>
                  <a:srgbClr val="EDEFF3"/>
                </a:solidFill>
                <a:latin typeface="Segoe UI"/>
              </a:rPr>
              <a:t>Why byte-oriented:  </a:t>
            </a:r>
            <a:r>
              <a:rPr sz="880" b="0">
                <a:solidFill>
                  <a:srgbClr val="9EA9B8"/>
                </a:solidFill>
                <a:latin typeface="Segoe UI"/>
              </a:rPr>
              <a:t>one envelope, two wire projections; the codec is chosen from the transport's own budget, never hardcoded.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61727" y="645566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40">
                <a:solidFill>
                  <a:srgbClr val="697585"/>
                </a:solidFill>
                <a:latin typeface="Consolas"/>
              </a:rPr>
              <a:t>Page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spc="180">
                <a:solidFill>
                  <a:srgbClr val="FF6A2B"/>
                </a:solidFill>
                <a:latin typeface="Consolas"/>
              </a:rPr>
              <a:t>06 — SOLUTION STEPS IN DETAIL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40080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68096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400" b="1">
                <a:solidFill>
                  <a:srgbClr val="EDEFF3"/>
                </a:solidFill>
                <a:latin typeface="Bahnschrift"/>
              </a:rPr>
              <a:t>A CASCADE THE AI CAN NEVER DELAY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>
                <a:solidFill>
                  <a:srgbClr val="EDEFF3"/>
                </a:solidFill>
                <a:latin typeface="Consolas"/>
              </a:rPr>
              <a:t>Signal</a:t>
            </a:r>
            <a:r>
              <a:rPr sz="1200" b="0">
                <a:solidFill>
                  <a:srgbClr val="697585"/>
                </a:solidFill>
                <a:latin typeface="Consolas"/>
              </a:rPr>
              <a:t>t</a:t>
            </a:r>
            <a:r>
              <a:rPr sz="1900" b="0">
                <a:solidFill>
                  <a:srgbClr val="EDEFF3"/>
                </a:solidFill>
                <a:latin typeface="Consolas"/>
              </a:rPr>
              <a:t> = </a:t>
            </a:r>
            <a:r>
              <a:rPr sz="1900" b="1">
                <a:solidFill>
                  <a:srgbClr val="FF6A2B"/>
                </a:solidFill>
                <a:latin typeface="Consolas"/>
              </a:rPr>
              <a:t>W</a:t>
            </a:r>
            <a:r>
              <a:rPr sz="1900" b="0">
                <a:solidFill>
                  <a:srgbClr val="EDEFF3"/>
                </a:solidFill>
                <a:latin typeface="Consolas"/>
              </a:rPr>
              <a:t> · v</a:t>
            </a:r>
            <a:r>
              <a:rPr sz="1200" b="0">
                <a:solidFill>
                  <a:srgbClr val="697585"/>
                </a:solidFill>
                <a:latin typeface="Consolas"/>
              </a:rPr>
              <a:t>SLM</a:t>
            </a:r>
            <a:r>
              <a:rPr sz="1900" b="0">
                <a:solidFill>
                  <a:srgbClr val="EDEFF3"/>
                </a:solidFill>
                <a:latin typeface="Consolas"/>
              </a:rPr>
              <a:t>  +  </a:t>
            </a:r>
            <a:r>
              <a:rPr sz="1900" b="1">
                <a:solidFill>
                  <a:srgbClr val="FF6A2B"/>
                </a:solidFill>
                <a:latin typeface="Consolas"/>
              </a:rPr>
              <a:t>w</a:t>
            </a:r>
            <a:r>
              <a:rPr sz="1200" b="0">
                <a:solidFill>
                  <a:srgbClr val="697585"/>
                </a:solidFill>
                <a:latin typeface="Consolas"/>
              </a:rPr>
              <a:t>IMU</a:t>
            </a:r>
            <a:r>
              <a:rPr sz="1900" b="0">
                <a:solidFill>
                  <a:srgbClr val="EDEFF3"/>
                </a:solidFill>
                <a:latin typeface="Consolas"/>
              </a:rPr>
              <a:t> · a</a:t>
            </a:r>
            <a:r>
              <a:rPr sz="1200" b="0">
                <a:solidFill>
                  <a:srgbClr val="697585"/>
                </a:solidFill>
                <a:latin typeface="Consolas"/>
              </a:rPr>
              <a:t>mag</a:t>
            </a:r>
            <a:r>
              <a:rPr sz="1900" b="0">
                <a:solidFill>
                  <a:srgbClr val="EDEFF3"/>
                </a:solidFill>
                <a:latin typeface="Consolas"/>
              </a:rPr>
              <a:t>        →        Danger</a:t>
            </a:r>
            <a:r>
              <a:rPr sz="1200" b="0">
                <a:solidFill>
                  <a:srgbClr val="697585"/>
                </a:solidFill>
                <a:latin typeface="Consolas"/>
              </a:rPr>
              <a:t>t</a:t>
            </a:r>
            <a:r>
              <a:rPr sz="1900" b="0">
                <a:solidFill>
                  <a:srgbClr val="EDEFF3"/>
                </a:solidFill>
                <a:latin typeface="Consolas"/>
              </a:rPr>
              <a:t> = Danger</a:t>
            </a:r>
            <a:r>
              <a:rPr sz="1200" b="0">
                <a:solidFill>
                  <a:srgbClr val="697585"/>
                </a:solidFill>
                <a:latin typeface="Consolas"/>
              </a:rPr>
              <a:t>t−1</a:t>
            </a:r>
            <a:r>
              <a:rPr sz="1900" b="0">
                <a:solidFill>
                  <a:srgbClr val="EDEFF3"/>
                </a:solidFill>
                <a:latin typeface="Consolas"/>
              </a:rPr>
              <a:t>(1−α) + Signal</a:t>
            </a:r>
            <a:r>
              <a:rPr sz="1200" b="0">
                <a:solidFill>
                  <a:srgbClr val="697585"/>
                </a:solidFill>
                <a:latin typeface="Consolas"/>
              </a:rPr>
              <a:t>t</a:t>
            </a:r>
            <a:r>
              <a:rPr sz="1900" b="0">
                <a:solidFill>
                  <a:srgbClr val="EDEFF3"/>
                </a:solidFill>
                <a:latin typeface="Consolas"/>
              </a:rPr>
              <a:t>·α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956816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66928" y="2139696"/>
            <a:ext cx="3759665" cy="157276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04288"/>
            <a:ext cx="3393905" cy="6650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50" b="1">
                <a:solidFill>
                  <a:srgbClr val="EDEFF3"/>
                </a:solidFill>
                <a:latin typeface="Segoe UI"/>
              </a:rPr>
              <a:t>Every term is inspectable: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80" b="0">
                <a:solidFill>
                  <a:srgbClr val="9EA9B8"/>
                </a:solidFill>
                <a:latin typeface="Segoe UI"/>
              </a:rPr>
              <a:t>A fixed weight matrix over a bounded 16-float vector, smoothed by an EMA. A responder can be told which feature moved the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19671"/>
            <a:ext cx="3393905" cy="504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50" b="1">
                <a:solidFill>
                  <a:srgbClr val="EDEFF3"/>
                </a:solidFill>
                <a:latin typeface="Segoe UI"/>
              </a:rPr>
              <a:t>Structurally advisory: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80" b="0">
                <a:solidFill>
                  <a:srgbClr val="9EA9B8"/>
                </a:solidFill>
                <a:latin typeface="Segoe UI"/>
              </a:rPr>
              <a:t>The inference stage may fail, block or never load. All three are the same thing to the mesh — the broadcast already left.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822191"/>
            <a:ext cx="1806680" cy="896112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941063"/>
            <a:ext cx="153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solidFill>
                  <a:srgbClr val="FF6A2B"/>
                </a:solidFill>
                <a:latin typeface="Bahnschrift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315968"/>
            <a:ext cx="1532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50" b="0" spc="100">
                <a:solidFill>
                  <a:srgbClr val="697585"/>
                </a:solidFill>
                <a:latin typeface="Consolas"/>
              </a:rPr>
              <a:t>FLOAT FEATURE VECTOR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9912" y="3822191"/>
            <a:ext cx="1806680" cy="896112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7072" y="3941063"/>
            <a:ext cx="1532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solidFill>
                  <a:srgbClr val="FF6A2B"/>
                </a:solidFill>
                <a:latin typeface="Bahnschrift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072" y="4315968"/>
            <a:ext cx="1532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50" b="0" spc="100">
                <a:solidFill>
                  <a:srgbClr val="697585"/>
                </a:solidFill>
                <a:latin typeface="Consolas"/>
              </a:rPr>
              <a:t>BIT TRIAGE FLAG BYTE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64608"/>
            <a:ext cx="3759665" cy="1005840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010912"/>
            <a:ext cx="339390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400" b="1">
                <a:solidFill>
                  <a:srgbClr val="FF6A2B"/>
                </a:solidFill>
                <a:latin typeface="Bahnschrift"/>
              </a:rPr>
              <a:t>0.45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800" b="0" spc="80">
                <a:solidFill>
                  <a:srgbClr val="9EA9B8"/>
                </a:solidFill>
                <a:latin typeface="Consolas"/>
              </a:rPr>
              <a:t>OF THE WEIGHT MASS SITS ON AUDIO — SILENT UNTIL THE MICROPHONE CHANNEL LANDED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37489" y="2139696"/>
            <a:ext cx="6987278" cy="0"/>
          </a:xfrm>
          <a:prstGeom prst="line">
            <a:avLst/>
          </a:prstGeom>
          <a:ln w="6350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37489" y="2231136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FF6A2B"/>
                </a:solidFill>
                <a:latin typeface="Consolas"/>
              </a:rPr>
              <a:t>t = 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9049" y="2212848"/>
            <a:ext cx="593571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DEFF3"/>
                </a:solidFill>
                <a:latin typeface="Bahnschrift"/>
              </a:rPr>
              <a:t>STAGE 0 — INSTANT OVERRIDE</a:t>
            </a:r>
          </a:p>
          <a:p>
            <a:pPr>
              <a:lnSpc>
                <a:spcPct val="124000"/>
              </a:lnSpc>
              <a:spcBef>
                <a:spcPts val="2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The button broadcasts synchronously at danger 1.00 carrying the person's own severity choice. Nothing inferred, nothing waited on, no model consulted.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37489" y="2907791"/>
            <a:ext cx="6987278" cy="0"/>
          </a:xfrm>
          <a:prstGeom prst="line">
            <a:avLst/>
          </a:prstGeom>
          <a:ln w="6350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37489" y="299923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FF6A2B"/>
                </a:solidFill>
                <a:latin typeface="Consolas"/>
              </a:rPr>
              <a:t>10–500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9049" y="2980944"/>
            <a:ext cx="593571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DEFF3"/>
                </a:solidFill>
                <a:latin typeface="Bahnschrift"/>
              </a:rPr>
              <a:t>STAGE 1 — SENSORY WINDOW</a:t>
            </a:r>
          </a:p>
          <a:p>
            <a:pPr>
              <a:lnSpc>
                <a:spcPct val="124000"/>
              </a:lnSpc>
              <a:spcBef>
                <a:spcPts val="2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Accelerometer, ambient light and microphone fill a bounded window. Peaks are kept, not averages: a phone underwater for four seconds of thirty was underwater.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37489" y="3675887"/>
            <a:ext cx="6987278" cy="0"/>
          </a:xfrm>
          <a:prstGeom prst="line">
            <a:avLst/>
          </a:prstGeom>
          <a:ln w="6350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37489" y="3767327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FF6A2B"/>
                </a:solidFill>
                <a:latin typeface="Consolas"/>
              </a:rPr>
              <a:t>&lt; 1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9049" y="3749039"/>
            <a:ext cx="593571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DEFF3"/>
                </a:solidFill>
                <a:latin typeface="Bahnschrift"/>
              </a:rPr>
              <a:t>STAGE 2 — DETERMINISTIC SCORING</a:t>
            </a:r>
          </a:p>
          <a:p>
            <a:pPr>
              <a:lnSpc>
                <a:spcPct val="124000"/>
              </a:lnSpc>
              <a:spcBef>
                <a:spcPts val="2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The vector is projected through the weight matrix, smoothed, and compressed into an 8-bit flag byte for triage. The score cannot hallucinate.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7489" y="4443983"/>
            <a:ext cx="6987278" cy="0"/>
          </a:xfrm>
          <a:prstGeom prst="line">
            <a:avLst/>
          </a:prstGeom>
          <a:ln w="6350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7489" y="4535423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FF6A2B"/>
                </a:solidFill>
                <a:latin typeface="Consolas"/>
              </a:rPr>
              <a:t>≤ 30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9049" y="4517136"/>
            <a:ext cx="593571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DEFF3"/>
                </a:solidFill>
                <a:latin typeface="Bahnschrift"/>
              </a:rPr>
              <a:t>STAGE 3 — ENRICHED RE-BROADCAST</a:t>
            </a:r>
          </a:p>
          <a:p>
            <a:pPr>
              <a:lnSpc>
                <a:spcPct val="124000"/>
              </a:lnSpc>
              <a:spcBef>
                <a:spcPts val="2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A second envelope reuses the original incident timestamp, so every downstream node updates that person rather than raising a second alert.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637489" y="5212079"/>
            <a:ext cx="6987278" cy="0"/>
          </a:xfrm>
          <a:prstGeom prst="line">
            <a:avLst/>
          </a:prstGeom>
          <a:ln w="6350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637489" y="5303519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>
                <a:solidFill>
                  <a:srgbClr val="FF6A2B"/>
                </a:solidFill>
                <a:latin typeface="Consolas"/>
              </a:rPr>
              <a:t>ongoing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9049" y="5285231"/>
            <a:ext cx="593571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EDEFF3"/>
                </a:solidFill>
                <a:latin typeface="Bahnschrift"/>
              </a:rPr>
              <a:t>RELAY — SELECTIVE AND BOUNDED</a:t>
            </a:r>
          </a:p>
          <a:p>
            <a:pPr>
              <a:lnSpc>
                <a:spcPct val="124000"/>
              </a:lnSpc>
              <a:spcBef>
                <a:spcPts val="2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Each node forwards what is new exactly once and stays silent otherwise. Most of the battery budget comes from what is never sent.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637489" y="5980175"/>
            <a:ext cx="6987278" cy="0"/>
          </a:xfrm>
          <a:prstGeom prst="line">
            <a:avLst/>
          </a:prstGeom>
          <a:ln w="6350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637489" y="6126479"/>
            <a:ext cx="2296795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3ED598"/>
                </a:solidFill>
                <a:latin typeface="Consolas"/>
              </a:rPr>
              <a:t>CASCADE &amp; DEDUP: COVERED END TO 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62300" y="6126479"/>
            <a:ext cx="2643505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2B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F2B441"/>
                </a:solidFill>
                <a:latin typeface="Consolas"/>
              </a:rPr>
              <a:t>MICROPHONE: BUILT, NEVER HEARD REAL WATER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1727" y="645566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40">
                <a:solidFill>
                  <a:srgbClr val="697585"/>
                </a:solidFill>
                <a:latin typeface="Consolas"/>
              </a:rPr>
              <a:t>Page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spc="180">
                <a:solidFill>
                  <a:srgbClr val="FF6A2B"/>
                </a:solidFill>
                <a:latin typeface="Consolas"/>
              </a:rPr>
              <a:t>07 — SOLUTION STACK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40080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68096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400" b="1">
                <a:solidFill>
                  <a:srgbClr val="EDEFF3"/>
                </a:solidFill>
                <a:latin typeface="Bahnschrift"/>
              </a:rPr>
              <a:t>DEPENDENCY-FREE WHERE IT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11680"/>
            <a:ext cx="2641015" cy="93268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30552"/>
            <a:ext cx="2366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solidFill>
                  <a:srgbClr val="FF6A2B"/>
                </a:solidFill>
                <a:latin typeface="Bahnschrift"/>
              </a:rPr>
              <a:t>201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542032"/>
            <a:ext cx="23666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50" b="0" spc="100">
                <a:solidFill>
                  <a:srgbClr val="697585"/>
                </a:solidFill>
                <a:latin typeface="Consolas"/>
              </a:rPr>
              <a:t>CORE TESTS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2535" y="2011680"/>
            <a:ext cx="2641015" cy="93268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9695" y="2130552"/>
            <a:ext cx="2366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solidFill>
                  <a:srgbClr val="FF6A2B"/>
                </a:solidFill>
                <a:latin typeface="Bahnschrift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9695" y="2542032"/>
            <a:ext cx="23666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50" b="0" spc="100">
                <a:solidFill>
                  <a:srgbClr val="697585"/>
                </a:solidFill>
                <a:latin typeface="Consolas"/>
              </a:rPr>
              <a:t>RUNTIME DEPS IN 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2011680"/>
            <a:ext cx="2641015" cy="93268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303" y="2130552"/>
            <a:ext cx="2366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solidFill>
                  <a:srgbClr val="FF6A2B"/>
                </a:solidFill>
                <a:latin typeface="Bahnschrift"/>
              </a:rPr>
              <a:t>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5303" y="2542032"/>
            <a:ext cx="23666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50" b="0" spc="100">
                <a:solidFill>
                  <a:srgbClr val="697585"/>
                </a:solidFill>
                <a:latin typeface="Consolas"/>
              </a:rPr>
              <a:t>BYTE ENVELOPE CEILING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3751" y="2011680"/>
            <a:ext cx="2641015" cy="93268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0911" y="2130552"/>
            <a:ext cx="2366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solidFill>
                  <a:srgbClr val="EDEFF3"/>
                </a:solidFill>
                <a:latin typeface="Bahnschrift"/>
              </a:rPr>
              <a:t>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0911" y="2542032"/>
            <a:ext cx="23666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50" b="0" spc="100">
                <a:solidFill>
                  <a:srgbClr val="697585"/>
                </a:solidFill>
                <a:latin typeface="Consolas"/>
              </a:rPr>
              <a:t>MINSDK — REACHES OLD PHONES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218688"/>
            <a:ext cx="3564026" cy="1408176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64992"/>
            <a:ext cx="21924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EDEFF3"/>
                </a:solidFill>
                <a:latin typeface="Bahnschrift"/>
              </a:rPr>
              <a:t>CORE — PURE JVM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2506" y="3355848"/>
            <a:ext cx="1133856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3ED598"/>
                </a:solidFill>
                <a:latin typeface="Consolas"/>
              </a:rPr>
              <a:t>TESTED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675887"/>
            <a:ext cx="319826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Kotlin · no Android, no third-party runtime dependency. Envelope, codecs, gossip, scoring, ranking — including a hand-rolled FFT for the audio channel. Testable with no device.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3834" y="3218688"/>
            <a:ext cx="3564026" cy="1408176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6714" y="3364992"/>
            <a:ext cx="21924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EDEFF3"/>
                </a:solidFill>
                <a:latin typeface="Bahnschrift"/>
              </a:rPr>
              <a:t>APP — ANDROID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9412" y="3355848"/>
            <a:ext cx="1133856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2B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F2B441"/>
                </a:solidFill>
                <a:latin typeface="Consolas"/>
              </a:rPr>
              <a:t>BUILDS, NOT FIELD-RUN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6714" y="3675887"/>
            <a:ext cx="319826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Jetpack Compose · foreground service with wake lock so the radio survives screen-off. A per-API-level permission matrix — the most likely silent failure in the system.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0740" y="3218688"/>
            <a:ext cx="3564026" cy="1408176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3620" y="3364992"/>
            <a:ext cx="21924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EDEFF3"/>
                </a:solidFill>
                <a:latin typeface="Bahnschrift"/>
              </a:rPr>
              <a:t>RADIO — L0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26319" y="3355848"/>
            <a:ext cx="1133856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2B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F2B441"/>
                </a:solidFill>
                <a:latin typeface="Consolas"/>
              </a:rPr>
              <a:t>2 DEVICES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3620" y="3675887"/>
            <a:ext cx="319826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Nearby Connections · BLE discovery auto-upgrading to Wi-Fi Direct. Swappable for a TCP relay in the lab, or a Meshtastic LoRa bridge for long haul.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791456"/>
            <a:ext cx="3564026" cy="1408176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937760"/>
            <a:ext cx="21924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EDEFF3"/>
                </a:solidFill>
                <a:latin typeface="Bahnschrift"/>
              </a:rPr>
              <a:t>WIRE FORMAT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2506" y="4928616"/>
            <a:ext cx="1133856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3ED598"/>
                </a:solidFill>
                <a:latin typeface="Consolas"/>
              </a:rPr>
              <a:t>TESTED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248656"/>
            <a:ext cx="319826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Two projections of one envelope. Byte ceilings enforced in the constructor — an over-budget report fails at construction, not at transmit time on a rooftop.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791456"/>
            <a:ext cx="3564026" cy="1408176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6714" y="4937760"/>
            <a:ext cx="21924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EDEFF3"/>
                </a:solidFill>
                <a:latin typeface="Bahnschrift"/>
              </a:rPr>
              <a:t>DASHBOARD — L3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79412" y="4928616"/>
            <a:ext cx="1133856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2B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F2B441"/>
                </a:solidFill>
                <a:latin typeface="Consolas"/>
              </a:rPr>
              <a:t>BUILT, NOT FIELD-RUN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6714" y="5248656"/>
            <a:ext cx="319826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NanoHTTPD + SSE · static HTML, no build step, served by the responder's own phone over its hotspot. A laptop joins and browses in, zero install.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0740" y="4791456"/>
            <a:ext cx="3564026" cy="1408176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3620" y="4937760"/>
            <a:ext cx="21924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EDEFF3"/>
                </a:solidFill>
                <a:latin typeface="Bahnschrift"/>
              </a:rPr>
              <a:t>LORA BRIDGE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26319" y="4928616"/>
            <a:ext cx="1133856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F5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FF5A5F"/>
                </a:solidFill>
                <a:latin typeface="Consolas"/>
              </a:rPr>
              <a:t>UNVERIFIED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3620" y="5248656"/>
            <a:ext cx="319826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19" b="0">
                <a:solidFill>
                  <a:srgbClr val="9EA9B8"/>
                </a:solidFill>
                <a:latin typeface="Segoe UI"/>
              </a:rPr>
              <a:t>ESP32 / Meshtastic over BLE-to-serial. GATT plumbing written and correct by inspection; never run against hardware, and this deck says so.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1727" y="645566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40">
                <a:solidFill>
                  <a:srgbClr val="697585"/>
                </a:solidFill>
                <a:latin typeface="Consolas"/>
              </a:rPr>
              <a:t>Page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spc="180">
                <a:solidFill>
                  <a:srgbClr val="FF6A2B"/>
                </a:solidFill>
                <a:latin typeface="Consolas"/>
              </a:rPr>
              <a:t>08 — NOVELTIES &amp; SCALABILITY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40080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68096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400" b="1">
                <a:solidFill>
                  <a:srgbClr val="EDEFF3"/>
                </a:solidFill>
                <a:latin typeface="Bahnschrift"/>
              </a:rPr>
              <a:t>WHAT IS ACTUALLY NEW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75104"/>
            <a:ext cx="53368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spc="150">
                <a:solidFill>
                  <a:srgbClr val="697585"/>
                </a:solidFill>
                <a:latin typeface="Consolas"/>
              </a:rPr>
              <a:t>NOVELTY — THE DECISION LAYER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2212848"/>
            <a:ext cx="5336895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2340864"/>
            <a:ext cx="5336895" cy="631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The receiver decides what it knows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Hop count is sender-controlled, so a spoofed node could claim first-hand standing. Each node instead stamps its own epistemic position on ingest — the one tier a bad actor most wants to forge is the one it cannot.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17995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Dedup on identity plus changeable content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Keying on incident alone would make the first relay drop the enriched follow-up — the entire point of the sensory window, lost one hop from the victim.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44450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Inference is structurally advisory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The model emits a bounded 16-float vector and nothing else — no generated text, no unbounded runtime. If it throws, the SOS already left.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70904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Honest nullability as a rule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GPS fails exactly where victims are, so a coordinate is never fabricated. A blank field beats a plausible wrong one a responder will act 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97359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Reputation decays 7× faster than it builds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A relay must behave well for a long time to earn influence; one contradicted report costs roughly seven reports' worth of standing.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7871" y="1975104"/>
            <a:ext cx="53368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spc="150">
                <a:solidFill>
                  <a:srgbClr val="697585"/>
                </a:solidFill>
                <a:latin typeface="Consolas"/>
              </a:rPr>
              <a:t>SCALABILITY — BOUNDED ON PURPOSE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87871" y="2212848"/>
            <a:ext cx="5336896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87871" y="2340864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Reach is chosen, not emergent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TTL is spent per forward, so coverage is a design parameter rather than a function of how large the crowd happens to be.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7871" y="2867318"/>
            <a:ext cx="5336895" cy="3300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Silence is the default output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A calm node transmits nothing at 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7871" y="3243096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Bounded memory everywhere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Capped dedup history, capped logs, capped envelope size. A relay left in a stairwell overnight cannot grow itself out of memory.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7871" y="3769551"/>
            <a:ext cx="5336895" cy="3300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One envelope, any radio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The same report crosses Wi-Fi Direct, plain TCP, or a 233-byte LoRa frame.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7871" y="4663440"/>
            <a:ext cx="5336895" cy="1444752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0751" y="4791455"/>
            <a:ext cx="49711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spc="120">
                <a:solidFill>
                  <a:srgbClr val="697585"/>
                </a:solidFill>
                <a:latin typeface="Consolas"/>
              </a:rPr>
              <a:t>MEASURED — THREE CHAINED RELAY PROCESSES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0751" y="5138927"/>
            <a:ext cx="1114767" cy="182880"/>
          </a:xfrm>
          <a:prstGeom prst="roundRect">
            <a:avLst>
              <a:gd name="adj" fmla="val 3500"/>
            </a:avLst>
          </a:prstGeom>
          <a:solidFill>
            <a:srgbClr val="FF6A2B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70751" y="5138927"/>
            <a:ext cx="278691" cy="182880"/>
          </a:xfrm>
          <a:prstGeom prst="roundRect">
            <a:avLst>
              <a:gd name="adj" fmla="val 3500"/>
            </a:avLst>
          </a:prstGeom>
          <a:solidFill>
            <a:srgbClr val="FF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0751" y="5394959"/>
            <a:ext cx="1114767" cy="182880"/>
          </a:xfrm>
          <a:prstGeom prst="roundRect">
            <a:avLst>
              <a:gd name="adj" fmla="val 3500"/>
            </a:avLst>
          </a:prstGeom>
          <a:solidFill>
            <a:srgbClr val="3ED59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70751" y="5394959"/>
            <a:ext cx="1114767" cy="182880"/>
          </a:xfrm>
          <a:prstGeom prst="roundRect">
            <a:avLst>
              <a:gd name="adj" fmla="val 3500"/>
            </a:avLst>
          </a:prstGeom>
          <a:solidFill>
            <a:srgbClr val="3ED59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0751" y="5632704"/>
            <a:ext cx="11147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720" b="0">
                <a:solidFill>
                  <a:srgbClr val="697585"/>
                </a:solidFill>
                <a:latin typeface="Consolas"/>
              </a:rPr>
              <a:t>relay A</a:t>
            </a:r>
          </a:p>
          <a:p>
            <a:r>
              <a:rPr sz="720" b="0">
                <a:solidFill>
                  <a:srgbClr val="FF6A2B"/>
                </a:solidFill>
                <a:latin typeface="Consolas"/>
              </a:rPr>
              <a:t>hops 1 · ttl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13535" y="5138927"/>
            <a:ext cx="1114767" cy="182880"/>
          </a:xfrm>
          <a:prstGeom prst="roundRect">
            <a:avLst>
              <a:gd name="adj" fmla="val 3500"/>
            </a:avLst>
          </a:prstGeom>
          <a:solidFill>
            <a:srgbClr val="FF6A2B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13535" y="5138927"/>
            <a:ext cx="557383" cy="182880"/>
          </a:xfrm>
          <a:prstGeom prst="roundRect">
            <a:avLst>
              <a:gd name="adj" fmla="val 3500"/>
            </a:avLst>
          </a:prstGeom>
          <a:solidFill>
            <a:srgbClr val="FF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13535" y="5394959"/>
            <a:ext cx="1114767" cy="182880"/>
          </a:xfrm>
          <a:prstGeom prst="roundRect">
            <a:avLst>
              <a:gd name="adj" fmla="val 3500"/>
            </a:avLst>
          </a:prstGeom>
          <a:solidFill>
            <a:srgbClr val="3ED59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13535" y="5394959"/>
            <a:ext cx="975421" cy="182880"/>
          </a:xfrm>
          <a:prstGeom prst="roundRect">
            <a:avLst>
              <a:gd name="adj" fmla="val 3500"/>
            </a:avLst>
          </a:prstGeom>
          <a:solidFill>
            <a:srgbClr val="3ED59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3535" y="5632704"/>
            <a:ext cx="11147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720" b="0">
                <a:solidFill>
                  <a:srgbClr val="697585"/>
                </a:solidFill>
                <a:latin typeface="Consolas"/>
              </a:rPr>
              <a:t>relay B</a:t>
            </a:r>
          </a:p>
          <a:p>
            <a:r>
              <a:rPr sz="720" b="0">
                <a:solidFill>
                  <a:srgbClr val="FF6A2B"/>
                </a:solidFill>
                <a:latin typeface="Consolas"/>
              </a:rPr>
              <a:t>hops 2 · ttl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56319" y="5138927"/>
            <a:ext cx="1114767" cy="182880"/>
          </a:xfrm>
          <a:prstGeom prst="roundRect">
            <a:avLst>
              <a:gd name="adj" fmla="val 3500"/>
            </a:avLst>
          </a:prstGeom>
          <a:solidFill>
            <a:srgbClr val="FF6A2B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56319" y="5138927"/>
            <a:ext cx="836075" cy="182880"/>
          </a:xfrm>
          <a:prstGeom prst="roundRect">
            <a:avLst>
              <a:gd name="adj" fmla="val 3500"/>
            </a:avLst>
          </a:prstGeom>
          <a:solidFill>
            <a:srgbClr val="FF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56319" y="5394959"/>
            <a:ext cx="1114767" cy="182880"/>
          </a:xfrm>
          <a:prstGeom prst="roundRect">
            <a:avLst>
              <a:gd name="adj" fmla="val 3500"/>
            </a:avLst>
          </a:prstGeom>
          <a:solidFill>
            <a:srgbClr val="3ED59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56319" y="5394959"/>
            <a:ext cx="836075" cy="182880"/>
          </a:xfrm>
          <a:prstGeom prst="roundRect">
            <a:avLst>
              <a:gd name="adj" fmla="val 3500"/>
            </a:avLst>
          </a:prstGeom>
          <a:solidFill>
            <a:srgbClr val="3ED59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6319" y="5632704"/>
            <a:ext cx="11147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720" b="0">
                <a:solidFill>
                  <a:srgbClr val="697585"/>
                </a:solidFill>
                <a:latin typeface="Consolas"/>
              </a:rPr>
              <a:t>relay C</a:t>
            </a:r>
          </a:p>
          <a:p>
            <a:r>
              <a:rPr sz="720" b="0">
                <a:solidFill>
                  <a:srgbClr val="FF6A2B"/>
                </a:solidFill>
                <a:latin typeface="Consolas"/>
              </a:rPr>
              <a:t>hops 3 · ttl 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99103" y="5138927"/>
            <a:ext cx="1114767" cy="182880"/>
          </a:xfrm>
          <a:prstGeom prst="roundRect">
            <a:avLst>
              <a:gd name="adj" fmla="val 3500"/>
            </a:avLst>
          </a:prstGeom>
          <a:solidFill>
            <a:srgbClr val="FF6A2B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199103" y="5138927"/>
            <a:ext cx="1114767" cy="182880"/>
          </a:xfrm>
          <a:prstGeom prst="roundRect">
            <a:avLst>
              <a:gd name="adj" fmla="val 3500"/>
            </a:avLst>
          </a:prstGeom>
          <a:solidFill>
            <a:srgbClr val="FF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99103" y="5394959"/>
            <a:ext cx="1114767" cy="182880"/>
          </a:xfrm>
          <a:prstGeom prst="roundRect">
            <a:avLst>
              <a:gd name="adj" fmla="val 3500"/>
            </a:avLst>
          </a:prstGeom>
          <a:solidFill>
            <a:srgbClr val="3ED598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199103" y="5394959"/>
            <a:ext cx="696729" cy="182880"/>
          </a:xfrm>
          <a:prstGeom prst="roundRect">
            <a:avLst>
              <a:gd name="adj" fmla="val 3500"/>
            </a:avLst>
          </a:prstGeom>
          <a:solidFill>
            <a:srgbClr val="3ED59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9103" y="5632704"/>
            <a:ext cx="11147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720" b="0">
                <a:solidFill>
                  <a:srgbClr val="697585"/>
                </a:solidFill>
                <a:latin typeface="Consolas"/>
              </a:rPr>
              <a:t>responder</a:t>
            </a:r>
          </a:p>
          <a:p>
            <a:r>
              <a:rPr sz="720" b="0">
                <a:solidFill>
                  <a:srgbClr val="FF6A2B"/>
                </a:solidFill>
                <a:latin typeface="Consolas"/>
              </a:rPr>
              <a:t>hops 4 · ttl 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6327648"/>
            <a:ext cx="2296795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3ED598"/>
                </a:solidFill>
                <a:latin typeface="Consolas"/>
              </a:rPr>
              <a:t>MULTI-HOP CHAIN VERIFIED · HOPS = 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73451" y="6327648"/>
            <a:ext cx="1661160" cy="20116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2B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700" b="0" spc="80">
                <a:solidFill>
                  <a:srgbClr val="F2B441"/>
                </a:solidFill>
                <a:latin typeface="Consolas"/>
              </a:rPr>
              <a:t>NEVER RUN ABOVE 2 PHONES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1727" y="645566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40">
                <a:solidFill>
                  <a:srgbClr val="697585"/>
                </a:solidFill>
                <a:latin typeface="Consolas"/>
              </a:rPr>
              <a:t>Page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spc="180">
                <a:solidFill>
                  <a:srgbClr val="FF6A2B"/>
                </a:solidFill>
                <a:latin typeface="Consolas"/>
              </a:rPr>
              <a:t>09 — LIMITATIONS &amp; FUTURE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40080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768096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3400" b="1">
                <a:solidFill>
                  <a:srgbClr val="EDEFF3"/>
                </a:solidFill>
                <a:latin typeface="Bahnschrift"/>
              </a:rPr>
              <a:t>WHAT WE HAVE NOT 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92224"/>
            <a:ext cx="79616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9EA9B8"/>
                </a:solidFill>
                <a:latin typeface="Segoe UI"/>
              </a:rPr>
              <a:t>Stated plainly, because a rescue tool that oversells itself is worse than one that does not exist. Every item below is tracked in the repository's own ledger.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04288"/>
            <a:ext cx="53368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spc="150">
                <a:solidFill>
                  <a:srgbClr val="697585"/>
                </a:solidFill>
                <a:latin typeface="Consolas"/>
              </a:rPr>
              <a:t>HONEST LIMITATIONS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2542032"/>
            <a:ext cx="5336895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2670048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Localisation is largely unsolved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No RSSI or trilateration exists. GPS is null indoors and underground — where victims are — so hop distance is the honest proxy. It says "near", not "where".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187358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Adoption density is the real dependency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The mesh works only if enough phones nearby already run it, with permissions granted, before the event. A deployment problem, not a code problem.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04669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No authentication or signing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Envelopes are unsigned and the link auto-accepts. A fabricated incident from a fresh identity currently costs an attacker nothing.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21979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A still phone goes quiet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The heartbeat gates on sensor posture rather than an open incident, so a motionless victim stops re-announcing within seconds. Found by our own audit; fix scoped.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739290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Never run beyond two phones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Multi-hop is proven across chained relay processes and simulation — not yet across three handsets in a real building.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256601"/>
            <a:ext cx="5336895" cy="3300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EDEFF3"/>
                </a:solidFill>
                <a:latin typeface="Segoe UI"/>
              </a:rPr>
              <a:t>Battery is a trade-off, not a number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Continuous advertise and scan is un-duty-cycled. 24-hour endurance is unmeasured.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7871" y="2304288"/>
            <a:ext cx="53368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spc="150">
                <a:solidFill>
                  <a:srgbClr val="697585"/>
                </a:solidFill>
                <a:latin typeface="Consolas"/>
              </a:rPr>
              <a:t>FUTURE WORK — IN PRIORITY ORDER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87871" y="2542032"/>
            <a:ext cx="5336896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87871" y="2670048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FF6A2B"/>
                </a:solidFill>
                <a:latin typeface="Segoe UI"/>
              </a:rPr>
              <a:t>01 · Keep an open incident alive on the wire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Drive the heartbeat from incident state, not posture. A small change, and the difference between an SOS that survives a rescue timeline and one that survives thirty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7871" y="3187358"/>
            <a:ext cx="5336895" cy="3300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FF6A2B"/>
                </a:solidFill>
                <a:latin typeface="Segoe UI"/>
              </a:rPr>
              <a:t>02 · Signed envelopes, rate-limited origins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Make a ghost flood cost something without demanding a PKI inside a disaster zone.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7871" y="3553992"/>
            <a:ext cx="5336895" cy="3300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FF6A2B"/>
                </a:solidFill>
                <a:latin typeface="Segoe UI"/>
              </a:rPr>
              <a:t>03 · Three-phone field trial, then density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The only test that can retire the biggest unknown in the project.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7871" y="3920626"/>
            <a:ext cx="5336895" cy="3300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FF6A2B"/>
                </a:solidFill>
                <a:latin typeface="Segoe UI"/>
              </a:rPr>
              <a:t>04 · Duty-cycled radio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Turn the documented battery trade-off into a measured number.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7871" y="4287259"/>
            <a:ext cx="5336895" cy="3300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FF6A2B"/>
                </a:solidFill>
                <a:latin typeface="Segoe UI"/>
              </a:rPr>
              <a:t>05 · Mesh-wide resolution signal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A "found / safe" that propagates hop by hop, so two teams never dig the same hole.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7871" y="4653893"/>
            <a:ext cx="5336895" cy="4807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1019" b="1">
                <a:solidFill>
                  <a:srgbClr val="FF6A2B"/>
                </a:solidFill>
                <a:latin typeface="Segoe UI"/>
              </a:rPr>
              <a:t>06 · A real encoder into the existing seam</a:t>
            </a:r>
          </a:p>
          <a:p>
            <a:pPr>
              <a:lnSpc>
                <a:spcPct val="124000"/>
              </a:lnSpc>
              <a:spcBef>
                <a:spcPts val="100"/>
              </a:spcBef>
            </a:pPr>
            <a:r>
              <a:rPr sz="919" b="0">
                <a:solidFill>
                  <a:srgbClr val="9EA9B8"/>
                </a:solidFill>
                <a:latin typeface="Segoe UI"/>
              </a:rPr>
              <a:t>The 16-float contract and four reserved slots mean a quantised model drops in with nothing downstream changing.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1727" y="645566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40">
                <a:solidFill>
                  <a:srgbClr val="697585"/>
                </a:solidFill>
                <a:latin typeface="Consolas"/>
              </a:rPr>
              <a:t>Page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spc="180">
                <a:solidFill>
                  <a:srgbClr val="FF6A2B"/>
                </a:solidFill>
                <a:latin typeface="Consolas"/>
              </a:rPr>
              <a:t>ONE-SHOT 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40080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66928" y="914400"/>
            <a:ext cx="2985616" cy="1188720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42415"/>
            <a:ext cx="26564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FF6A2B"/>
                </a:solidFill>
                <a:latin typeface="Bahnschrift"/>
              </a:rP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16736"/>
            <a:ext cx="26564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40" b="0">
                <a:solidFill>
                  <a:srgbClr val="9EA9B8"/>
                </a:solidFill>
                <a:latin typeface="Segoe UI"/>
              </a:rPr>
              <a:t>Towers fall, satellites need sky, and mesh messengers carry conversations rather than casualties. Nobody ranks people.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31136"/>
            <a:ext cx="2985616" cy="1188720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59152"/>
            <a:ext cx="26564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FF6A2B"/>
                </a:solidFill>
                <a:latin typeface="Bahnschrift"/>
              </a:rPr>
              <a:t>THE 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33472"/>
            <a:ext cx="26564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40" b="0">
                <a:solidFill>
                  <a:srgbClr val="9EA9B8"/>
                </a:solidFill>
                <a:latin typeface="Segoe UI"/>
              </a:rPr>
              <a:t>Broadcast first, infer second. Relay once, bounded by TTL. Deduplicate into incidents. Rank against real responder capacity.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47872"/>
            <a:ext cx="1419656" cy="859536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666744"/>
            <a:ext cx="1145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solidFill>
                  <a:srgbClr val="FF6A2B"/>
                </a:solidFill>
                <a:latin typeface="Bahnschrift"/>
              </a:rPr>
              <a:t>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005072"/>
            <a:ext cx="11453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50" b="0" spc="100">
                <a:solidFill>
                  <a:srgbClr val="697585"/>
                </a:solidFill>
                <a:latin typeface="Consolas"/>
              </a:rPr>
              <a:t>TO FIRST BROADCAST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32888" y="3547872"/>
            <a:ext cx="1419656" cy="859536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70048" y="3666744"/>
            <a:ext cx="1145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solidFill>
                  <a:srgbClr val="FF6A2B"/>
                </a:solidFill>
                <a:latin typeface="Bahnschrif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0048" y="4005072"/>
            <a:ext cx="11453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750" b="0" spc="100">
                <a:solidFill>
                  <a:srgbClr val="697585"/>
                </a:solidFill>
                <a:latin typeface="Consolas"/>
              </a:rPr>
              <a:t>FORWARD PER NODE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3712" y="914400"/>
            <a:ext cx="4423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2500" b="1">
                <a:solidFill>
                  <a:srgbClr val="FF6A2B"/>
                </a:solidFill>
                <a:latin typeface="Bahnschrift"/>
              </a:rPr>
              <a:t>SENSE  </a:t>
            </a:r>
            <a:r>
              <a:rPr sz="2500" b="1">
                <a:solidFill>
                  <a:srgbClr val="FF9052"/>
                </a:solidFill>
                <a:latin typeface="Bahnschrift"/>
              </a:rPr>
              <a:t>RELAY  </a:t>
            </a:r>
            <a:r>
              <a:rPr sz="2500" b="1">
                <a:solidFill>
                  <a:srgbClr val="EDEFF3"/>
                </a:solidFill>
                <a:latin typeface="Bahnschrift"/>
              </a:rPr>
              <a:t>TRIAGE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3712" y="1481328"/>
            <a:ext cx="2742344" cy="512064"/>
          </a:xfrm>
          <a:prstGeom prst="roundRect">
            <a:avLst>
              <a:gd name="adj" fmla="val 12000"/>
            </a:avLst>
          </a:prstGeom>
          <a:solidFill>
            <a:srgbClr val="0F1622">
              <a:alpha val="88000"/>
            </a:srgbClr>
          </a:solidFill>
          <a:ln w="12700">
            <a:solidFill>
              <a:srgbClr val="FF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1728" y="1554480"/>
            <a:ext cx="24863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900" b="1">
                <a:solidFill>
                  <a:srgbClr val="EDEFF3"/>
                </a:solidFill>
                <a:latin typeface="Consolas"/>
              </a:rPr>
              <a:t>VICTIM</a:t>
            </a:r>
          </a:p>
          <a:p>
            <a:pPr>
              <a:spcBef>
                <a:spcPts val="100"/>
              </a:spcBef>
            </a:pPr>
            <a:r>
              <a:rPr sz="720" b="0">
                <a:solidFill>
                  <a:srgbClr val="697585"/>
                </a:solidFill>
                <a:latin typeface="Consolas"/>
              </a:rPr>
              <a:t>one button · 0 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24884" y="2011680"/>
            <a:ext cx="0" cy="146304"/>
          </a:xfrm>
          <a:prstGeom prst="line">
            <a:avLst/>
          </a:prstGeom>
          <a:ln w="15875">
            <a:solidFill>
              <a:srgbClr val="FF6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53712" y="2157984"/>
            <a:ext cx="2742344" cy="512064"/>
          </a:xfrm>
          <a:prstGeom prst="roundRect">
            <a:avLst>
              <a:gd name="adj" fmla="val 12000"/>
            </a:avLst>
          </a:prstGeom>
          <a:solidFill>
            <a:srgbClr val="0F1622">
              <a:alpha val="88000"/>
            </a:srgbClr>
          </a:solidFill>
          <a:ln w="12700">
            <a:solidFill>
              <a:srgbClr val="9EA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81728" y="2231136"/>
            <a:ext cx="24863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900" b="1">
                <a:solidFill>
                  <a:srgbClr val="EDEFF3"/>
                </a:solidFill>
                <a:latin typeface="Consolas"/>
              </a:rPr>
              <a:t>RELAY</a:t>
            </a:r>
          </a:p>
          <a:p>
            <a:pPr>
              <a:spcBef>
                <a:spcPts val="100"/>
              </a:spcBef>
            </a:pPr>
            <a:r>
              <a:rPr sz="720" b="0">
                <a:solidFill>
                  <a:srgbClr val="697585"/>
                </a:solidFill>
                <a:latin typeface="Consolas"/>
              </a:rPr>
              <a:t>forwards once · −1 ttl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24884" y="2688336"/>
            <a:ext cx="0" cy="146304"/>
          </a:xfrm>
          <a:prstGeom prst="line">
            <a:avLst/>
          </a:prstGeom>
          <a:ln w="15875">
            <a:solidFill>
              <a:srgbClr val="FF6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53712" y="2834640"/>
            <a:ext cx="2742344" cy="512064"/>
          </a:xfrm>
          <a:prstGeom prst="roundRect">
            <a:avLst>
              <a:gd name="adj" fmla="val 12000"/>
            </a:avLst>
          </a:prstGeom>
          <a:solidFill>
            <a:srgbClr val="0F1622">
              <a:alpha val="88000"/>
            </a:srgbClr>
          </a:solidFill>
          <a:ln w="12700">
            <a:solidFill>
              <a:srgbClr val="9EA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1728" y="2907792"/>
            <a:ext cx="24863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900" b="1">
                <a:solidFill>
                  <a:srgbClr val="EDEFF3"/>
                </a:solidFill>
                <a:latin typeface="Consolas"/>
              </a:rPr>
              <a:t>RELAY</a:t>
            </a:r>
          </a:p>
          <a:p>
            <a:pPr>
              <a:spcBef>
                <a:spcPts val="100"/>
              </a:spcBef>
            </a:pPr>
            <a:r>
              <a:rPr sz="720" b="0">
                <a:solidFill>
                  <a:srgbClr val="697585"/>
                </a:solidFill>
                <a:latin typeface="Consolas"/>
              </a:rPr>
              <a:t>dedup suppresses echo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53712" y="3529584"/>
            <a:ext cx="4423135" cy="2157984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00016" y="3639312"/>
            <a:ext cx="41305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spc="40">
                <a:solidFill>
                  <a:srgbClr val="3ED598"/>
                </a:solidFill>
                <a:latin typeface="Bahnschrift"/>
              </a:rPr>
              <a:t>RESPONDER 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00016" y="3913632"/>
            <a:ext cx="4130527" cy="402336"/>
          </a:xfrm>
          <a:prstGeom prst="roundRect">
            <a:avLst>
              <a:gd name="adj" fmla="val 14000"/>
            </a:avLst>
          </a:prstGeom>
          <a:solidFill>
            <a:srgbClr val="0F1622">
              <a:alpha val="90000"/>
            </a:srgbClr>
          </a:solidFill>
          <a:ln w="11430">
            <a:solidFill>
              <a:srgbClr val="FF6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8032" y="3968496"/>
            <a:ext cx="38744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80" b="0">
                <a:solidFill>
                  <a:srgbClr val="FF6A2B"/>
                </a:solidFill>
                <a:latin typeface="Consolas"/>
              </a:rPr>
              <a:t>DROWNING · 1 HOP</a:t>
            </a:r>
          </a:p>
          <a:p>
            <a:r>
              <a:rPr sz="700" b="0">
                <a:solidFill>
                  <a:srgbClr val="697585"/>
                </a:solidFill>
                <a:latin typeface="Consolas"/>
              </a:rPr>
              <a:t>first-hand · 3 corroborations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00016" y="4370832"/>
            <a:ext cx="4130527" cy="402336"/>
          </a:xfrm>
          <a:prstGeom prst="roundRect">
            <a:avLst>
              <a:gd name="adj" fmla="val 14000"/>
            </a:avLst>
          </a:prstGeom>
          <a:solidFill>
            <a:srgbClr val="0F1622">
              <a:alpha val="90000"/>
            </a:srgbClr>
          </a:solidFill>
          <a:ln w="11430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8032" y="4425696"/>
            <a:ext cx="38744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80" b="0">
                <a:solidFill>
                  <a:srgbClr val="9EA9B8"/>
                </a:solidFill>
                <a:latin typeface="Consolas"/>
              </a:rPr>
              <a:t>ENTRAPMENT · 3 HOPS</a:t>
            </a:r>
          </a:p>
          <a:p>
            <a:r>
              <a:rPr sz="700" b="0">
                <a:solidFill>
                  <a:srgbClr val="697585"/>
                </a:solidFill>
                <a:latin typeface="Consolas"/>
              </a:rPr>
              <a:t>testimony · 1 corroboration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00016" y="4828032"/>
            <a:ext cx="4130527" cy="402336"/>
          </a:xfrm>
          <a:prstGeom prst="roundRect">
            <a:avLst>
              <a:gd name="adj" fmla="val 14000"/>
            </a:avLst>
          </a:prstGeom>
          <a:solidFill>
            <a:srgbClr val="0F1622">
              <a:alpha val="90000"/>
            </a:srgbClr>
          </a:solidFill>
          <a:ln w="11430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8032" y="4882896"/>
            <a:ext cx="387449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80" b="0">
                <a:solidFill>
                  <a:srgbClr val="9EA9B8"/>
                </a:solidFill>
                <a:latin typeface="Consolas"/>
              </a:rPr>
              <a:t>OTHER · 4 HOPS</a:t>
            </a:r>
          </a:p>
          <a:p>
            <a:r>
              <a:rPr sz="700" b="0">
                <a:solidFill>
                  <a:srgbClr val="697585"/>
                </a:solidFill>
                <a:latin typeface="Consolas"/>
              </a:rPr>
              <a:t>testimony · single-sourced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0016" y="5358384"/>
            <a:ext cx="41305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40" b="0" spc="80">
                <a:solidFill>
                  <a:srgbClr val="3ED598"/>
                </a:solidFill>
                <a:latin typeface="Consolas"/>
              </a:rPr>
              <a:t>RANKED · DEDUPLICATED · CAPACITY-AWARE — PEOPLE, NOT MESSAGES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78016" y="914400"/>
            <a:ext cx="3246750" cy="129844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3ED5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2608" y="1042415"/>
            <a:ext cx="29175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3ED598"/>
                </a:solidFill>
                <a:latin typeface="Bahnschrift"/>
              </a:rPr>
              <a:t>PROVEN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2608" y="1316736"/>
            <a:ext cx="29175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40" b="0">
                <a:solidFill>
                  <a:srgbClr val="9EA9B8"/>
                </a:solidFill>
                <a:latin typeface="Segoe UI"/>
              </a:rPr>
              <a:t>201 core tests. Multi-hop verified at four hops across three chained relay processes, driven by an external client.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78016" y="2340864"/>
            <a:ext cx="3246750" cy="1298448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F2B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2608" y="2468880"/>
            <a:ext cx="29175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spc="40">
                <a:solidFill>
                  <a:srgbClr val="F2B441"/>
                </a:solidFill>
                <a:latin typeface="Bahnschrift"/>
              </a:rPr>
              <a:t>NOT YET PROVEN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2608" y="2743200"/>
            <a:ext cx="291756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6000"/>
              </a:lnSpc>
            </a:pPr>
            <a:r>
              <a:rPr sz="940" b="0">
                <a:solidFill>
                  <a:srgbClr val="9EA9B8"/>
                </a:solidFill>
                <a:latin typeface="Segoe UI"/>
              </a:rPr>
              <a:t>Three real handsets in a real building. Battery over 24 hours. The LoRa bridge against hardware.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78016" y="3767328"/>
            <a:ext cx="3246750" cy="1060704"/>
          </a:xfrm>
          <a:prstGeom prst="roundRect">
            <a:avLst>
              <a:gd name="adj" fmla="val 6000"/>
            </a:avLst>
          </a:prstGeom>
          <a:solidFill>
            <a:srgbClr val="141C2A">
              <a:alpha val="72000"/>
            </a:srgbClr>
          </a:solidFill>
          <a:ln w="9525">
            <a:solidFill>
              <a:srgbClr val="22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2608" y="3895344"/>
            <a:ext cx="29175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2000"/>
              </a:lnSpc>
            </a:pPr>
            <a:r>
              <a:rPr sz="4000" b="1">
                <a:solidFill>
                  <a:srgbClr val="FF6A2B"/>
                </a:solidFill>
                <a:latin typeface="Bahnschrift"/>
              </a:rPr>
              <a:t>4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780" b="0" spc="80">
                <a:solidFill>
                  <a:srgbClr val="9EA9B8"/>
                </a:solidFill>
                <a:latin typeface="Consolas"/>
              </a:rPr>
              <a:t>HOPS MEASURED END TO END, EVERY ECHO SUPPRESSED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6928" y="5705856"/>
            <a:ext cx="11057839" cy="0"/>
          </a:xfrm>
          <a:prstGeom prst="line">
            <a:avLst/>
          </a:prstGeom>
          <a:ln w="9525">
            <a:solidFill>
              <a:srgbClr val="222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6928" y="5870448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2700" b="1">
                <a:solidFill>
                  <a:srgbClr val="EDEFF3"/>
                </a:solidFill>
                <a:latin typeface="Bahnschrift"/>
              </a:rPr>
              <a:t>WE DON'T JUST CARRY MESSAGES.</a:t>
            </a:r>
          </a:p>
          <a:p>
            <a:pPr>
              <a:lnSpc>
                <a:spcPct val="98000"/>
              </a:lnSpc>
            </a:pPr>
            <a:r>
              <a:rPr sz="2700" b="1">
                <a:solidFill>
                  <a:srgbClr val="EDEFF3"/>
                </a:solidFill>
                <a:latin typeface="Bahnschrift"/>
              </a:rPr>
              <a:t>WE CARRY </a:t>
            </a:r>
            <a:r>
              <a:rPr sz="2700" b="1">
                <a:solidFill>
                  <a:srgbClr val="FF6A2B"/>
                </a:solidFill>
                <a:latin typeface="Bahnschrift"/>
              </a:rPr>
              <a:t>EVIDENCE.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61727" y="645566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40">
                <a:solidFill>
                  <a:srgbClr val="697585"/>
                </a:solidFill>
                <a:latin typeface="Consolas"/>
              </a:rPr>
              <a:t>Page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